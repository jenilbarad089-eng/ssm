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14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0E1DC-20A0-4C9B-98AB-A25D2C416503}" v="97" dt="2026-07-18T05:22:50.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varScale="1">
        <p:scale>
          <a:sx n="84" d="100"/>
          <a:sy n="84" d="100"/>
        </p:scale>
        <p:origin x="85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il barad" userId="64c9a20d8e022053" providerId="LiveId" clId="{74914638-8049-4C5A-AF1F-FF73164B9EF0}"/>
    <pc:docChg chg="modSld">
      <pc:chgData name="jenil barad" userId="64c9a20d8e022053" providerId="LiveId" clId="{74914638-8049-4C5A-AF1F-FF73164B9EF0}" dt="2026-07-18T05:23:47.455" v="102" actId="14861"/>
      <pc:docMkLst>
        <pc:docMk/>
      </pc:docMkLst>
      <pc:sldChg chg="addSp modSp mod">
        <pc:chgData name="jenil barad" userId="64c9a20d8e022053" providerId="LiveId" clId="{74914638-8049-4C5A-AF1F-FF73164B9EF0}" dt="2026-07-18T05:23:47.455" v="102" actId="14861"/>
        <pc:sldMkLst>
          <pc:docMk/>
          <pc:sldMk cId="1026258835" sldId="275"/>
        </pc:sldMkLst>
        <pc:spChg chg="mod">
          <ac:chgData name="jenil barad" userId="64c9a20d8e022053" providerId="LiveId" clId="{74914638-8049-4C5A-AF1F-FF73164B9EF0}" dt="2026-07-18T05:22:41.855" v="93" actId="21"/>
          <ac:spMkLst>
            <pc:docMk/>
            <pc:sldMk cId="1026258835" sldId="275"/>
            <ac:spMk id="2" creationId="{DE029667-4D7D-3851-92D3-7DDDA62918E9}"/>
          </ac:spMkLst>
        </pc:spChg>
        <pc:spChg chg="add mod">
          <ac:chgData name="jenil barad" userId="64c9a20d8e022053" providerId="LiveId" clId="{74914638-8049-4C5A-AF1F-FF73164B9EF0}" dt="2026-07-18T05:23:47.455" v="102" actId="14861"/>
          <ac:spMkLst>
            <pc:docMk/>
            <pc:sldMk cId="1026258835" sldId="275"/>
            <ac:spMk id="3" creationId="{C5B55001-6B39-A87B-F3F9-EFAB008017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42119E-3501-48AE-A285-4186D74AA557}" type="datetimeFigureOut">
              <a:rPr lang="en-IN" smtClean="0"/>
              <a:t>18-07-2026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07132-12CD-46B3-9BE7-0D9174A8AEA8}" type="slidenum">
              <a:rPr lang="en-IN" smtClean="0"/>
              <a:t>‹#›</a:t>
            </a:fld>
            <a:endParaRPr lang="en-IN"/>
          </a:p>
        </p:txBody>
      </p:sp>
    </p:spTree>
    <p:extLst>
      <p:ext uri="{BB962C8B-B14F-4D97-AF65-F5344CB8AC3E}">
        <p14:creationId xmlns:p14="http://schemas.microsoft.com/office/powerpoint/2010/main" val="72516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89C6A-D5DF-ED45-1DE2-FDCA33A404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8744A5-EDA1-AB0F-C3A1-7CE51E70C4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126871-B25F-0CB2-A168-277C2573A801}"/>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5" name="Footer Placeholder 4">
            <a:extLst>
              <a:ext uri="{FF2B5EF4-FFF2-40B4-BE49-F238E27FC236}">
                <a16:creationId xmlns:a16="http://schemas.microsoft.com/office/drawing/2014/main" id="{5BBB08DE-DBB8-E95D-34DC-DEDC500D4B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90B00-8839-71C6-47C6-44585ABD886C}"/>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2622585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06931-9094-4AD6-01AC-9D940EEF95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D54CCF-88AB-7109-2219-90DF4E54EB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B0CBC5-3A32-B686-3A9D-F853FB6A4DDB}"/>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5" name="Footer Placeholder 4">
            <a:extLst>
              <a:ext uri="{FF2B5EF4-FFF2-40B4-BE49-F238E27FC236}">
                <a16:creationId xmlns:a16="http://schemas.microsoft.com/office/drawing/2014/main" id="{A91BB997-AF88-B009-D4F7-4DE76337AF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584A26-45E3-A705-009C-434AA187CD05}"/>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1315542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C5356-8783-5E1C-952D-E51ACF591A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186797-4261-A6DB-D509-0C67AEDBCB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E851EA-AEAC-9663-7ED0-C22342898F1E}"/>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5" name="Footer Placeholder 4">
            <a:extLst>
              <a:ext uri="{FF2B5EF4-FFF2-40B4-BE49-F238E27FC236}">
                <a16:creationId xmlns:a16="http://schemas.microsoft.com/office/drawing/2014/main" id="{744B4355-3569-CF73-DC6D-951970DDDE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312035-42BD-C60E-9DCC-9E2E8B6C7560}"/>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4223775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CE90-E285-9704-C4D2-DA034895F6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5CD28E-7118-0FB5-8949-2CC773629A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BC51A2-897A-1924-4DAB-98E8F171C9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4B6638-4B9E-98CF-9135-869A5AC6E54B}"/>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6" name="Footer Placeholder 5">
            <a:extLst>
              <a:ext uri="{FF2B5EF4-FFF2-40B4-BE49-F238E27FC236}">
                <a16:creationId xmlns:a16="http://schemas.microsoft.com/office/drawing/2014/main" id="{0AB3C9F8-1654-E357-237E-A09A8EF38F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3B8F35-8B05-1300-AEC7-06EF201C3B61}"/>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2299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12380-A914-1C7A-6E07-02A2FA1969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F1F91E-D2DA-A754-CDCB-20E0B0468F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83868D-D51E-C79E-7383-ED92ACCCB3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060550-4AD3-7437-7862-446BDB4B41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61D344-36B1-FEA6-CF38-6FB38178F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FD1CCD-F603-A02E-1D90-DF637A16F3EE}"/>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8" name="Footer Placeholder 7">
            <a:extLst>
              <a:ext uri="{FF2B5EF4-FFF2-40B4-BE49-F238E27FC236}">
                <a16:creationId xmlns:a16="http://schemas.microsoft.com/office/drawing/2014/main" id="{179365DF-67C1-534C-E53B-54323CC2D2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AA87C48-AA34-90F7-D26D-EEC37D74781F}"/>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2009278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5BE6-207A-5E9B-3249-52EB5C4211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7A5577E-03B0-633C-913B-DCD9D23105D1}"/>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4" name="Footer Placeholder 3">
            <a:extLst>
              <a:ext uri="{FF2B5EF4-FFF2-40B4-BE49-F238E27FC236}">
                <a16:creationId xmlns:a16="http://schemas.microsoft.com/office/drawing/2014/main" id="{8863EA5F-9997-3AAC-6393-153EA513EA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5EDB4A3-CB7C-1B1D-E412-608001F0FC3D}"/>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1041667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299EF7-AB9B-2B8D-A2EA-39DFFEF49880}"/>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3" name="Footer Placeholder 2">
            <a:extLst>
              <a:ext uri="{FF2B5EF4-FFF2-40B4-BE49-F238E27FC236}">
                <a16:creationId xmlns:a16="http://schemas.microsoft.com/office/drawing/2014/main" id="{3A507DC6-83E8-540E-9C9F-7CF8670456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78D91A-C4BF-7FF0-1E70-CFE3DBF7F6B4}"/>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3993914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A0E14-65C5-EFC3-9ADC-D45FA852C8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52A1C80-D222-F52A-EABF-AB3CD666CB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D7E315-3E63-2190-D27F-CEC94D0AFC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4BCD5-819A-87F7-8BB6-CD0FA5DB6CE0}"/>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6" name="Footer Placeholder 5">
            <a:extLst>
              <a:ext uri="{FF2B5EF4-FFF2-40B4-BE49-F238E27FC236}">
                <a16:creationId xmlns:a16="http://schemas.microsoft.com/office/drawing/2014/main" id="{0A10CEB1-8E7F-29BA-E647-41CC878972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155652-78F5-223B-5ADC-58199C4518E8}"/>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1653713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E7741-14DC-B2D4-B73F-55AF7B8CB7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8F91E7-431B-2241-3612-F37402F494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72426F-BB50-CD34-9EE8-F7D9FA802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5A0CE-F8B1-5315-4D76-A049BA2772D0}"/>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6" name="Footer Placeholder 5">
            <a:extLst>
              <a:ext uri="{FF2B5EF4-FFF2-40B4-BE49-F238E27FC236}">
                <a16:creationId xmlns:a16="http://schemas.microsoft.com/office/drawing/2014/main" id="{FBA8B58A-CC40-CD8B-8ECA-A083C2472D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75633C-C596-D3D9-06C6-3758E4CD2034}"/>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4145593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4CD8B-38E4-EFEF-DDA7-E08C4A2E77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9E2F83-4A18-4FDC-EFCB-7848648AFB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D146C4-3AB5-B50D-2767-89EED0EF7EB7}"/>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5" name="Footer Placeholder 4">
            <a:extLst>
              <a:ext uri="{FF2B5EF4-FFF2-40B4-BE49-F238E27FC236}">
                <a16:creationId xmlns:a16="http://schemas.microsoft.com/office/drawing/2014/main" id="{FB724683-C786-9885-FCF5-C21E0F8118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5D860B-09D7-FB43-0326-E11B6458FA62}"/>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36283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2DC6F3-D4E9-5EA4-D23B-6C6F6F6942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82D107-D459-632A-AEFA-92A603537D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00001D-87E5-8878-EA0C-CC66CD80A205}"/>
              </a:ext>
            </a:extLst>
          </p:cNvPr>
          <p:cNvSpPr>
            <a:spLocks noGrp="1"/>
          </p:cNvSpPr>
          <p:nvPr>
            <p:ph type="dt" sz="half" idx="10"/>
          </p:nvPr>
        </p:nvSpPr>
        <p:spPr/>
        <p:txBody>
          <a:bodyPr/>
          <a:lstStyle/>
          <a:p>
            <a:fld id="{547DB182-078F-4662-878A-1AF53FF9443F}" type="datetimeFigureOut">
              <a:rPr lang="en-IN" smtClean="0"/>
              <a:t>18-07-2026</a:t>
            </a:fld>
            <a:endParaRPr lang="en-IN"/>
          </a:p>
        </p:txBody>
      </p:sp>
      <p:sp>
        <p:nvSpPr>
          <p:cNvPr id="5" name="Footer Placeholder 4">
            <a:extLst>
              <a:ext uri="{FF2B5EF4-FFF2-40B4-BE49-F238E27FC236}">
                <a16:creationId xmlns:a16="http://schemas.microsoft.com/office/drawing/2014/main" id="{4B036DA4-A243-4735-4137-A467EF2827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CC3CF1-4EDE-640E-D4E8-6BE1B780214D}"/>
              </a:ext>
            </a:extLst>
          </p:cNvPr>
          <p:cNvSpPr>
            <a:spLocks noGrp="1"/>
          </p:cNvSpPr>
          <p:nvPr>
            <p:ph type="sldNum" sz="quarter" idx="12"/>
          </p:nvPr>
        </p:nvSpPr>
        <p:spPr/>
        <p:txBody>
          <a:bodyPr/>
          <a:lstStyle/>
          <a:p>
            <a:fld id="{91846F17-B607-45C1-82E5-138EEF752358}" type="slidenum">
              <a:rPr lang="en-IN" smtClean="0"/>
              <a:t>‹#›</a:t>
            </a:fld>
            <a:endParaRPr lang="en-IN"/>
          </a:p>
        </p:txBody>
      </p:sp>
    </p:spTree>
    <p:extLst>
      <p:ext uri="{BB962C8B-B14F-4D97-AF65-F5344CB8AC3E}">
        <p14:creationId xmlns:p14="http://schemas.microsoft.com/office/powerpoint/2010/main" val="1848469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5E64EE-C4F1-8BF4-DA38-2EBB66A8E6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E03A55-EF5F-EB90-59DF-03255DAD0D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1768A6-255E-114E-9E72-D7CCD3C8CA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7DB182-078F-4662-878A-1AF53FF9443F}" type="datetimeFigureOut">
              <a:rPr lang="en-IN" smtClean="0"/>
              <a:t>18-07-2026</a:t>
            </a:fld>
            <a:endParaRPr lang="en-IN"/>
          </a:p>
        </p:txBody>
      </p:sp>
      <p:sp>
        <p:nvSpPr>
          <p:cNvPr id="5" name="Footer Placeholder 4">
            <a:extLst>
              <a:ext uri="{FF2B5EF4-FFF2-40B4-BE49-F238E27FC236}">
                <a16:creationId xmlns:a16="http://schemas.microsoft.com/office/drawing/2014/main" id="{22497782-8DC8-FD68-BDFD-10FE7E728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11B6919-EB91-BB88-3037-A48E6A7FBA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846F17-B607-45C1-82E5-138EEF752358}" type="slidenum">
              <a:rPr lang="en-IN" smtClean="0"/>
              <a:t>‹#›</a:t>
            </a:fld>
            <a:endParaRPr lang="en-IN"/>
          </a:p>
        </p:txBody>
      </p:sp>
    </p:spTree>
    <p:extLst>
      <p:ext uri="{BB962C8B-B14F-4D97-AF65-F5344CB8AC3E}">
        <p14:creationId xmlns:p14="http://schemas.microsoft.com/office/powerpoint/2010/main" val="3645539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30ED7-D471-6A88-6909-4A7F588D34CD}"/>
              </a:ext>
            </a:extLst>
          </p:cNvPr>
          <p:cNvSpPr>
            <a:spLocks noGrp="1"/>
          </p:cNvSpPr>
          <p:nvPr>
            <p:ph type="ctrTitle"/>
          </p:nvPr>
        </p:nvSpPr>
        <p:spPr>
          <a:xfrm>
            <a:off x="939478" y="1084544"/>
            <a:ext cx="10313044" cy="5034987"/>
          </a:xfrm>
        </p:spPr>
        <p:txBody>
          <a:bodyPr>
            <a:normAutofit fontScale="90000"/>
          </a:bodyPr>
          <a:lstStyle/>
          <a:p>
            <a:pPr algn="l"/>
            <a:r>
              <a:rPr lang="en-IN" dirty="0"/>
              <a:t> </a:t>
            </a:r>
            <a:br>
              <a:rPr lang="en-IN" dirty="0"/>
            </a:br>
            <a:br>
              <a:rPr lang="en-IN" dirty="0"/>
            </a:br>
            <a:br>
              <a:rPr lang="en-IN" dirty="0"/>
            </a:br>
            <a:br>
              <a:rPr lang="en-IN" dirty="0"/>
            </a:br>
            <a:r>
              <a:rPr lang="en-IN" sz="4400" b="1" u="sng" dirty="0">
                <a:solidFill>
                  <a:schemeClr val="tx1">
                    <a:lumMod val="85000"/>
                    <a:lumOff val="15000"/>
                  </a:schemeClr>
                </a:solidFill>
                <a:latin typeface="Calisto MT" panose="02040603050505030304" pitchFamily="18" charset="0"/>
              </a:rPr>
              <a:t>Project Title:</a:t>
            </a:r>
            <a:br>
              <a:rPr lang="en-IN" sz="4900" b="1" u="sng" dirty="0">
                <a:latin typeface="Calisto MT" panose="02040603050505030304" pitchFamily="18" charset="0"/>
              </a:rPr>
            </a:br>
            <a:br>
              <a:rPr lang="en-IN" b="1" u="sng" dirty="0"/>
            </a:br>
            <a:r>
              <a:rPr lang="en-US" sz="7300" dirty="0">
                <a:latin typeface="Impact" panose="020B0806030902050204" pitchFamily="34" charset="0"/>
              </a:rPr>
              <a:t>Smart society management system.</a:t>
            </a:r>
            <a:br>
              <a:rPr lang="en-US" sz="7300" dirty="0">
                <a:latin typeface="Impact" panose="020B0806030902050204" pitchFamily="34" charset="0"/>
              </a:rPr>
            </a:br>
            <a:r>
              <a:rPr lang="en-IN" sz="2200" dirty="0">
                <a:solidFill>
                  <a:schemeClr val="tx1">
                    <a:lumMod val="50000"/>
                    <a:lumOff val="50000"/>
                  </a:schemeClr>
                </a:solidFill>
                <a:latin typeface="Arial Rounded MT Bold" panose="020F0704030504030204" pitchFamily="34" charset="0"/>
              </a:rPr>
              <a:t>A Digital Platform for Residencial Society Administration.</a:t>
            </a:r>
            <a:br>
              <a:rPr lang="en-IN" dirty="0"/>
            </a:br>
            <a:br>
              <a:rPr lang="en-IN" dirty="0"/>
            </a:br>
            <a:endParaRPr lang="en-IN" dirty="0"/>
          </a:p>
        </p:txBody>
      </p:sp>
      <p:sp>
        <p:nvSpPr>
          <p:cNvPr id="3" name="Subtitle 2">
            <a:extLst>
              <a:ext uri="{FF2B5EF4-FFF2-40B4-BE49-F238E27FC236}">
                <a16:creationId xmlns:a16="http://schemas.microsoft.com/office/drawing/2014/main" id="{20D8D759-E0DB-72B9-3364-4A4B712AB2CA}"/>
              </a:ext>
            </a:extLst>
          </p:cNvPr>
          <p:cNvSpPr>
            <a:spLocks noGrp="1"/>
          </p:cNvSpPr>
          <p:nvPr>
            <p:ph type="subTitle" idx="1"/>
          </p:nvPr>
        </p:nvSpPr>
        <p:spPr>
          <a:xfrm>
            <a:off x="833377" y="3602038"/>
            <a:ext cx="9834623" cy="1655762"/>
          </a:xfrm>
        </p:spPr>
        <p:txBody>
          <a:bodyPr/>
          <a:lstStyle/>
          <a:p>
            <a:endParaRPr lang="en-IN" dirty="0"/>
          </a:p>
          <a:p>
            <a:endParaRPr lang="en-IN" dirty="0"/>
          </a:p>
        </p:txBody>
      </p:sp>
    </p:spTree>
    <p:extLst>
      <p:ext uri="{BB962C8B-B14F-4D97-AF65-F5344CB8AC3E}">
        <p14:creationId xmlns:p14="http://schemas.microsoft.com/office/powerpoint/2010/main" val="392696477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0A9944-5119-FD62-849E-0F5BD9A08ADA}"/>
              </a:ext>
            </a:extLst>
          </p:cNvPr>
          <p:cNvSpPr txBox="1"/>
          <p:nvPr/>
        </p:nvSpPr>
        <p:spPr>
          <a:xfrm>
            <a:off x="892986" y="934720"/>
            <a:ext cx="10406027" cy="3939540"/>
          </a:xfrm>
          <a:prstGeom prst="rect">
            <a:avLst/>
          </a:prstGeom>
          <a:noFill/>
        </p:spPr>
        <p:txBody>
          <a:bodyPr wrap="square" rtlCol="0">
            <a:spAutoFit/>
          </a:bodyPr>
          <a:lstStyle/>
          <a:p>
            <a:r>
              <a:rPr lang="en-US" sz="4000" b="1" u="sng" dirty="0">
                <a:latin typeface="Calisto MT" panose="02040603050505030304" pitchFamily="18" charset="0"/>
              </a:rPr>
              <a:t>Problem statement:</a:t>
            </a:r>
          </a:p>
          <a:p>
            <a:endParaRPr lang="en-US" sz="4000" b="1" u="sng" dirty="0">
              <a:latin typeface="Calisto MT" panose="02040603050505030304" pitchFamily="18" charset="0"/>
            </a:endParaRPr>
          </a:p>
          <a:p>
            <a:pPr algn="just"/>
            <a:r>
              <a:rPr lang="en-IN" sz="2600" spc="40" dirty="0">
                <a:solidFill>
                  <a:schemeClr val="tx1"/>
                </a:solidFill>
                <a:latin typeface="Sitka Subheading Semibold" pitchFamily="2" charset="0"/>
              </a:rPr>
              <a:t>Existing society management methods are time-consuming, paper-based, and lack proper communication and transparency. Managing complaints, maintenance payments, visitor records, notices, and facility bookings manually often results in delays and errors. </a:t>
            </a: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29288629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B53CB5-D8E4-F6ED-095E-6657A02E229E}"/>
              </a:ext>
            </a:extLst>
          </p:cNvPr>
          <p:cNvSpPr txBox="1"/>
          <p:nvPr/>
        </p:nvSpPr>
        <p:spPr>
          <a:xfrm>
            <a:off x="990600" y="953482"/>
            <a:ext cx="10210800" cy="5139869"/>
          </a:xfrm>
          <a:prstGeom prst="rect">
            <a:avLst/>
          </a:prstGeom>
          <a:noFill/>
        </p:spPr>
        <p:txBody>
          <a:bodyPr wrap="square" rtlCol="0">
            <a:spAutoFit/>
          </a:bodyPr>
          <a:lstStyle/>
          <a:p>
            <a:r>
              <a:rPr lang="en-US" sz="4000" b="1" u="sng" dirty="0">
                <a:latin typeface="Calisto MT" panose="02040603050505030304" pitchFamily="18" charset="0"/>
              </a:rPr>
              <a:t>How to solve it:</a:t>
            </a:r>
          </a:p>
          <a:p>
            <a:endParaRPr lang="en-US" sz="4000" b="1" u="sng" dirty="0">
              <a:latin typeface="Calisto MT" panose="02040603050505030304" pitchFamily="18" charset="0"/>
            </a:endParaRPr>
          </a:p>
          <a:p>
            <a:pPr algn="just"/>
            <a:r>
              <a:rPr lang="en-IN" sz="2600" spc="30" dirty="0">
                <a:solidFill>
                  <a:schemeClr val="tx1">
                    <a:lumMod val="85000"/>
                    <a:lumOff val="15000"/>
                  </a:schemeClr>
                </a:solidFill>
                <a:latin typeface="Sitka Subheading Semibold" pitchFamily="2" charset="0"/>
              </a:rPr>
              <a:t>The </a:t>
            </a:r>
            <a:r>
              <a:rPr lang="en-IN" sz="2600" b="1" spc="30" dirty="0">
                <a:solidFill>
                  <a:schemeClr val="tx1">
                    <a:lumMod val="85000"/>
                    <a:lumOff val="15000"/>
                  </a:schemeClr>
                </a:solidFill>
                <a:latin typeface="Sitka Subheading Semibold" pitchFamily="2" charset="0"/>
              </a:rPr>
              <a:t>Smart Society Management System </a:t>
            </a:r>
            <a:r>
              <a:rPr lang="en-IN" sz="2600" spc="30" dirty="0">
                <a:solidFill>
                  <a:schemeClr val="tx1">
                    <a:lumMod val="85000"/>
                    <a:lumOff val="15000"/>
                  </a:schemeClr>
                </a:solidFill>
                <a:latin typeface="Sitka Subheading Semibold" pitchFamily="2" charset="0"/>
              </a:rPr>
              <a:t>is a web-based application that automates society management by providing a single platform for residents, administrators, and security staff. It enables online complaint management, maintenance payment, visitor tracking, notice sharing, facility booking, and resident management. The system reduces manual work, improves communication, enhances security, and ensures efficient and transparent society operations.</a:t>
            </a: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695779192"/>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CC3047-19AE-57B5-B452-23D31EA6E307}"/>
              </a:ext>
            </a:extLst>
          </p:cNvPr>
          <p:cNvSpPr txBox="1"/>
          <p:nvPr/>
        </p:nvSpPr>
        <p:spPr>
          <a:xfrm>
            <a:off x="944880" y="332692"/>
            <a:ext cx="10302240" cy="6155531"/>
          </a:xfrm>
          <a:prstGeom prst="rect">
            <a:avLst/>
          </a:prstGeom>
          <a:noFill/>
        </p:spPr>
        <p:txBody>
          <a:bodyPr wrap="square" rtlCol="0">
            <a:spAutoFit/>
          </a:bodyPr>
          <a:lstStyle/>
          <a:p>
            <a:endParaRPr lang="en-US" sz="4000" u="sng" dirty="0">
              <a:latin typeface="Calisto MT" panose="02040603050505030304" pitchFamily="18" charset="0"/>
            </a:endParaRPr>
          </a:p>
          <a:p>
            <a:r>
              <a:rPr lang="en-US" sz="4000" b="1" u="sng" dirty="0">
                <a:latin typeface="Calisto MT" panose="02040603050505030304" pitchFamily="18" charset="0"/>
              </a:rPr>
              <a:t>Project objectives:</a:t>
            </a:r>
          </a:p>
          <a:p>
            <a:endParaRPr lang="en-US" sz="4000" u="sng" dirty="0">
              <a:latin typeface="Calisto MT" panose="02040603050505030304" pitchFamily="18" charset="0"/>
            </a:endParaRPr>
          </a:p>
          <a:p>
            <a:pPr marL="342900" indent="-342900" algn="just">
              <a:buFont typeface="Wingdings" panose="05000000000000000000" pitchFamily="2" charset="2"/>
              <a:buChar char="§"/>
            </a:pPr>
            <a:r>
              <a:rPr lang="en-IN" sz="2600" dirty="0">
                <a:solidFill>
                  <a:schemeClr val="tx1"/>
                </a:solidFill>
                <a:latin typeface="Sitka Subheading Semibold" pitchFamily="2" charset="0"/>
              </a:rPr>
              <a:t>The main objectives of the </a:t>
            </a:r>
            <a:r>
              <a:rPr lang="en-IN" sz="2600" b="1" dirty="0">
                <a:solidFill>
                  <a:schemeClr val="tx1"/>
                </a:solidFill>
                <a:latin typeface="Sitka Subheading Semibold" pitchFamily="2" charset="0"/>
              </a:rPr>
              <a:t>Smart Society Management System</a:t>
            </a:r>
            <a:r>
              <a:rPr lang="en-IN" sz="2600" dirty="0">
                <a:solidFill>
                  <a:schemeClr val="tx1"/>
                </a:solidFill>
                <a:latin typeface="Sitka Subheading Semibold" pitchFamily="2" charset="0"/>
              </a:rPr>
              <a:t> are:</a:t>
            </a:r>
          </a:p>
          <a:p>
            <a:pPr marL="342900" indent="-342900" algn="just">
              <a:buFont typeface="Wingdings" panose="05000000000000000000" pitchFamily="2" charset="2"/>
              <a:buChar char="§"/>
            </a:pPr>
            <a:r>
              <a:rPr lang="en-IN" sz="2600" dirty="0">
                <a:solidFill>
                  <a:schemeClr val="tx1"/>
                </a:solidFill>
                <a:latin typeface="Sitka Subheading Semibold" pitchFamily="2" charset="0"/>
              </a:rPr>
              <a:t>Develop a centralized platform to manage all society-related activities efficiently.</a:t>
            </a:r>
          </a:p>
          <a:p>
            <a:pPr marL="342900" indent="-342900" algn="just">
              <a:buFont typeface="Wingdings" panose="05000000000000000000" pitchFamily="2" charset="2"/>
              <a:buChar char="§"/>
            </a:pPr>
            <a:r>
              <a:rPr lang="en-IN" sz="2600" dirty="0">
                <a:solidFill>
                  <a:schemeClr val="tx1"/>
                </a:solidFill>
                <a:latin typeface="Sitka Subheading Semibold" pitchFamily="2" charset="0"/>
              </a:rPr>
              <a:t>Simplify communication between residents, administrators, and security personnel.</a:t>
            </a:r>
          </a:p>
          <a:p>
            <a:pPr marL="342900" indent="-342900" algn="just">
              <a:buFont typeface="Wingdings" panose="05000000000000000000" pitchFamily="2" charset="2"/>
              <a:buChar char="§"/>
            </a:pPr>
            <a:r>
              <a:rPr lang="en-IN" sz="2600" dirty="0">
                <a:solidFill>
                  <a:schemeClr val="tx1"/>
                </a:solidFill>
                <a:latin typeface="Sitka Subheading Semibold" pitchFamily="2" charset="0"/>
              </a:rPr>
              <a:t>Enable online complaint registration, tracking, and timely resolution.</a:t>
            </a:r>
          </a:p>
          <a:p>
            <a:pPr marL="342900" indent="-342900" algn="just">
              <a:buFont typeface="Wingdings" panose="05000000000000000000" pitchFamily="2" charset="2"/>
              <a:buChar char="§"/>
            </a:pPr>
            <a:r>
              <a:rPr lang="en-IN" sz="2600" dirty="0">
                <a:solidFill>
                  <a:schemeClr val="tx1"/>
                </a:solidFill>
                <a:latin typeface="Sitka Subheading Semibold" pitchFamily="2" charset="0"/>
              </a:rPr>
              <a:t>Provide a secure system for visitor entry and approval.</a:t>
            </a:r>
          </a:p>
          <a:p>
            <a:endParaRPr lang="en-IN" sz="4000" u="sng" dirty="0">
              <a:latin typeface="Calisto MT" panose="02040603050505030304" pitchFamily="18" charset="0"/>
            </a:endParaRPr>
          </a:p>
        </p:txBody>
      </p:sp>
    </p:spTree>
    <p:extLst>
      <p:ext uri="{BB962C8B-B14F-4D97-AF65-F5344CB8AC3E}">
        <p14:creationId xmlns:p14="http://schemas.microsoft.com/office/powerpoint/2010/main" val="223183648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EA2141-AFA5-3C15-1632-15D8C208375B}"/>
              </a:ext>
            </a:extLst>
          </p:cNvPr>
          <p:cNvSpPr txBox="1"/>
          <p:nvPr/>
        </p:nvSpPr>
        <p:spPr>
          <a:xfrm>
            <a:off x="717630" y="659757"/>
            <a:ext cx="10590836" cy="3570208"/>
          </a:xfrm>
          <a:prstGeom prst="rect">
            <a:avLst/>
          </a:prstGeom>
          <a:noFill/>
        </p:spPr>
        <p:txBody>
          <a:bodyPr wrap="square" rtlCol="0">
            <a:spAutoFit/>
          </a:bodyPr>
          <a:lstStyle/>
          <a:p>
            <a:pPr marL="342900" indent="-342900" algn="just">
              <a:buFont typeface="Wingdings" panose="05000000000000000000" pitchFamily="2" charset="2"/>
              <a:buChar char="§"/>
            </a:pPr>
            <a:r>
              <a:rPr lang="en-IN" sz="2600" dirty="0">
                <a:solidFill>
                  <a:schemeClr val="tx1"/>
                </a:solidFill>
                <a:latin typeface="Sitka Subheading Semibold" pitchFamily="2" charset="0"/>
              </a:rPr>
              <a:t>Automate maintenance fee collection and maintain digital payment records.</a:t>
            </a:r>
          </a:p>
          <a:p>
            <a:pPr marL="342900" indent="-342900" algn="just">
              <a:buFont typeface="Wingdings" panose="05000000000000000000" pitchFamily="2" charset="2"/>
              <a:buChar char="§"/>
            </a:pPr>
            <a:r>
              <a:rPr lang="en-IN" sz="2600" dirty="0">
                <a:solidFill>
                  <a:schemeClr val="tx1"/>
                </a:solidFill>
                <a:latin typeface="Sitka Subheading Semibold" pitchFamily="2" charset="0"/>
              </a:rPr>
              <a:t>Allow residents to receive notices and announcements instantly.</a:t>
            </a:r>
          </a:p>
          <a:p>
            <a:pPr marL="342900" indent="-342900" algn="just">
              <a:buFont typeface="Wingdings" panose="05000000000000000000" pitchFamily="2" charset="2"/>
              <a:buChar char="§"/>
            </a:pPr>
            <a:r>
              <a:rPr lang="en-IN" sz="2600" dirty="0">
                <a:latin typeface="Sitka Subheading Semibold" pitchFamily="2" charset="0"/>
              </a:rPr>
              <a:t>Facilitate online booking of society amenities such as the clubhouse or community hall.</a:t>
            </a:r>
          </a:p>
          <a:p>
            <a:pPr marL="342900" indent="-342900" algn="just">
              <a:buFont typeface="Wingdings" panose="05000000000000000000" pitchFamily="2" charset="2"/>
              <a:buChar char="§"/>
            </a:pPr>
            <a:r>
              <a:rPr lang="en-IN" sz="2600" dirty="0">
                <a:latin typeface="Sitka Subheading Semibold" pitchFamily="2" charset="0"/>
              </a:rPr>
              <a:t>Reduce paperwork, manual errors, and administrative workload.</a:t>
            </a:r>
          </a:p>
          <a:p>
            <a:pPr marL="342900" indent="-342900" algn="just">
              <a:buFont typeface="Wingdings" panose="05000000000000000000" pitchFamily="2" charset="2"/>
              <a:buChar char="§"/>
            </a:pPr>
            <a:r>
              <a:rPr lang="en-IN" sz="2600" dirty="0">
                <a:latin typeface="Sitka Subheading Semibold" pitchFamily="2" charset="0"/>
              </a:rPr>
              <a:t>Improve transparency, security, and overall efficiency in society management.</a:t>
            </a:r>
          </a:p>
          <a:p>
            <a:endParaRPr lang="en-IN" dirty="0"/>
          </a:p>
        </p:txBody>
      </p:sp>
    </p:spTree>
    <p:extLst>
      <p:ext uri="{BB962C8B-B14F-4D97-AF65-F5344CB8AC3E}">
        <p14:creationId xmlns:p14="http://schemas.microsoft.com/office/powerpoint/2010/main" val="305124072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4394B6-A14F-F950-7695-BBDEEAE37620}"/>
              </a:ext>
            </a:extLst>
          </p:cNvPr>
          <p:cNvSpPr txBox="1"/>
          <p:nvPr/>
        </p:nvSpPr>
        <p:spPr>
          <a:xfrm>
            <a:off x="960120" y="792480"/>
            <a:ext cx="10302240" cy="5539978"/>
          </a:xfrm>
          <a:prstGeom prst="rect">
            <a:avLst/>
          </a:prstGeom>
          <a:noFill/>
        </p:spPr>
        <p:txBody>
          <a:bodyPr wrap="square" rtlCol="0">
            <a:spAutoFit/>
          </a:bodyPr>
          <a:lstStyle/>
          <a:p>
            <a:r>
              <a:rPr lang="en-US" sz="4000" b="1" u="sng" dirty="0">
                <a:latin typeface="Calisto MT" panose="02040603050505030304" pitchFamily="18" charset="0"/>
              </a:rPr>
              <a:t>Expected output:</a:t>
            </a:r>
          </a:p>
          <a:p>
            <a:endParaRPr lang="en-US" sz="4000" b="1" u="sng" dirty="0">
              <a:latin typeface="Calisto MT" panose="02040603050505030304" pitchFamily="18" charset="0"/>
            </a:endParaRPr>
          </a:p>
          <a:p>
            <a:pPr marL="457200" indent="-457200">
              <a:buFont typeface="Wingdings" panose="05000000000000000000" pitchFamily="2" charset="2"/>
              <a:buChar char="§"/>
            </a:pPr>
            <a:r>
              <a:rPr lang="en-IN" sz="2600" dirty="0">
                <a:solidFill>
                  <a:schemeClr val="tx1"/>
                </a:solidFill>
                <a:latin typeface="Sitka Subheading Semibold" pitchFamily="2" charset="0"/>
              </a:rPr>
              <a:t>A fully functional web application for residential society management.</a:t>
            </a:r>
          </a:p>
          <a:p>
            <a:pPr marL="457200" indent="-457200">
              <a:buFont typeface="Wingdings" panose="05000000000000000000" pitchFamily="2" charset="2"/>
              <a:buChar char="§"/>
            </a:pPr>
            <a:r>
              <a:rPr lang="en-IN" sz="2600" dirty="0">
                <a:solidFill>
                  <a:schemeClr val="tx1"/>
                </a:solidFill>
                <a:latin typeface="Sitka Subheading Semibold" pitchFamily="2" charset="0"/>
              </a:rPr>
              <a:t>Secure login for different users (Admin, Resident, and Security Guard).</a:t>
            </a:r>
          </a:p>
          <a:p>
            <a:pPr marL="457200" indent="-457200">
              <a:buFont typeface="Wingdings" panose="05000000000000000000" pitchFamily="2" charset="2"/>
              <a:buChar char="§"/>
            </a:pPr>
            <a:r>
              <a:rPr lang="en-IN" sz="2600" dirty="0">
                <a:solidFill>
                  <a:schemeClr val="tx1"/>
                </a:solidFill>
                <a:latin typeface="Sitka Subheading Semibold" pitchFamily="2" charset="0"/>
              </a:rPr>
              <a:t>Digital management of resident information, complaints, visitors, and maintenance records.</a:t>
            </a:r>
          </a:p>
          <a:p>
            <a:pPr marL="457200" indent="-457200">
              <a:buFont typeface="Wingdings" panose="05000000000000000000" pitchFamily="2" charset="2"/>
              <a:buChar char="§"/>
            </a:pPr>
            <a:r>
              <a:rPr lang="en-IN" sz="2600" dirty="0">
                <a:solidFill>
                  <a:schemeClr val="tx1"/>
                </a:solidFill>
                <a:latin typeface="Sitka Subheading Semibold" pitchFamily="2" charset="0"/>
              </a:rPr>
              <a:t>Real-time notifications and announcements for residents.</a:t>
            </a:r>
          </a:p>
          <a:p>
            <a:pPr marL="457200" indent="-457200">
              <a:buFont typeface="Wingdings" panose="05000000000000000000" pitchFamily="2" charset="2"/>
              <a:buChar char="§"/>
            </a:pPr>
            <a:r>
              <a:rPr lang="en-IN" sz="2600" dirty="0">
                <a:solidFill>
                  <a:schemeClr val="tx1"/>
                </a:solidFill>
                <a:latin typeface="Sitka Subheading Semibold" pitchFamily="2" charset="0"/>
              </a:rPr>
              <a:t>Easy access to reports and records through an admin dashboard.</a:t>
            </a: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170808719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CC3B62-7E02-D713-E85A-AF64906F2D53}"/>
              </a:ext>
            </a:extLst>
          </p:cNvPr>
          <p:cNvSpPr txBox="1"/>
          <p:nvPr/>
        </p:nvSpPr>
        <p:spPr>
          <a:xfrm>
            <a:off x="873760" y="711200"/>
            <a:ext cx="10495280" cy="2769989"/>
          </a:xfrm>
          <a:prstGeom prst="rect">
            <a:avLst/>
          </a:prstGeom>
          <a:noFill/>
        </p:spPr>
        <p:txBody>
          <a:bodyPr wrap="square" rtlCol="0">
            <a:spAutoFit/>
          </a:bodyPr>
          <a:lstStyle/>
          <a:p>
            <a:pPr marL="457200" indent="-457200">
              <a:buFont typeface="Wingdings" panose="05000000000000000000" pitchFamily="2" charset="2"/>
              <a:buChar char="§"/>
            </a:pPr>
            <a:r>
              <a:rPr lang="en-IN" sz="2600" dirty="0">
                <a:latin typeface="Sitka Subheading Semibold" pitchFamily="2" charset="0"/>
              </a:rPr>
              <a:t>Faster communication, improved security, and better management of society operations.</a:t>
            </a:r>
          </a:p>
          <a:p>
            <a:pPr marL="457200" indent="-457200">
              <a:buFont typeface="Wingdings" panose="05000000000000000000" pitchFamily="2" charset="2"/>
              <a:buChar char="§"/>
            </a:pPr>
            <a:r>
              <a:rPr lang="en-IN" sz="2600" dirty="0">
                <a:latin typeface="Sitka Subheading Semibold" pitchFamily="2" charset="0"/>
              </a:rPr>
              <a:t>A user-friendly interface that saves time and enhances the overall experience for all users.</a:t>
            </a:r>
          </a:p>
          <a:p>
            <a:pPr marL="457200" indent="-457200">
              <a:buFont typeface="Wingdings" panose="05000000000000000000" pitchFamily="2" charset="2"/>
              <a:buChar char="§"/>
            </a:pPr>
            <a:r>
              <a:rPr lang="en-IN" sz="2600" dirty="0">
                <a:latin typeface="Sitka Subheading Semibold" pitchFamily="2" charset="0"/>
              </a:rPr>
              <a:t>These points are concise and suitable for inclusion in a college-level minor project PPT.</a:t>
            </a:r>
          </a:p>
          <a:p>
            <a:endParaRPr lang="en-IN" dirty="0"/>
          </a:p>
        </p:txBody>
      </p:sp>
    </p:spTree>
    <p:extLst>
      <p:ext uri="{BB962C8B-B14F-4D97-AF65-F5344CB8AC3E}">
        <p14:creationId xmlns:p14="http://schemas.microsoft.com/office/powerpoint/2010/main" val="267030953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88B56F-45B8-9941-9CCC-4BEB0B83BF09}"/>
              </a:ext>
            </a:extLst>
          </p:cNvPr>
          <p:cNvSpPr txBox="1"/>
          <p:nvPr/>
        </p:nvSpPr>
        <p:spPr>
          <a:xfrm>
            <a:off x="810228" y="787078"/>
            <a:ext cx="10451939" cy="6555641"/>
          </a:xfrm>
          <a:prstGeom prst="rect">
            <a:avLst/>
          </a:prstGeom>
          <a:noFill/>
        </p:spPr>
        <p:txBody>
          <a:bodyPr wrap="square" rtlCol="0">
            <a:spAutoFit/>
          </a:bodyPr>
          <a:lstStyle/>
          <a:p>
            <a:r>
              <a:rPr lang="en-US" sz="4000" b="1" u="sng" dirty="0">
                <a:latin typeface="Calisto MT" panose="02040603050505030304" pitchFamily="18" charset="0"/>
              </a:rPr>
              <a:t>Project domain:</a:t>
            </a:r>
          </a:p>
          <a:p>
            <a:pPr algn="just"/>
            <a:r>
              <a:rPr lang="en-IN" sz="2600" dirty="0">
                <a:solidFill>
                  <a:schemeClr val="tx1"/>
                </a:solidFill>
                <a:latin typeface="Sitka Subheading Semibold" pitchFamily="2" charset="0"/>
              </a:rPr>
              <a:t>Web Development (with elements of Database Management and Role-Based Access Control); Mobile App Development as a future extension.</a:t>
            </a:r>
          </a:p>
          <a:p>
            <a:pPr algn="just"/>
            <a:endParaRPr lang="en-IN" sz="2600" dirty="0">
              <a:latin typeface="Sitka Subheading Semibold" pitchFamily="2" charset="0"/>
            </a:endParaRPr>
          </a:p>
          <a:p>
            <a:pPr algn="just"/>
            <a:r>
              <a:rPr lang="en-US" sz="4000" b="1" u="sng" dirty="0">
                <a:latin typeface="Calisto MT" panose="02040603050505030304" pitchFamily="18" charset="0"/>
              </a:rPr>
              <a:t>Project type:</a:t>
            </a:r>
          </a:p>
          <a:p>
            <a:pPr algn="just"/>
            <a:r>
              <a:rPr lang="en-IN" sz="2600" b="1" dirty="0">
                <a:solidFill>
                  <a:schemeClr val="tx1"/>
                </a:solidFill>
                <a:latin typeface="Sitka Subheading Semibold" pitchFamily="2" charset="0"/>
              </a:rPr>
              <a:t>Smart Society Management System</a:t>
            </a:r>
            <a:r>
              <a:rPr lang="en-IN" sz="2600" dirty="0">
                <a:solidFill>
                  <a:schemeClr val="tx1"/>
                </a:solidFill>
                <a:latin typeface="Sitka Subheading Semibold" pitchFamily="2" charset="0"/>
              </a:rPr>
              <a:t> is a </a:t>
            </a:r>
            <a:r>
              <a:rPr lang="en-IN" sz="2600" b="1" dirty="0">
                <a:solidFill>
                  <a:schemeClr val="tx1"/>
                </a:solidFill>
                <a:latin typeface="Sitka Subheading Semibold" pitchFamily="2" charset="0"/>
              </a:rPr>
              <a:t>Web-Based Management Information System (MIS)</a:t>
            </a:r>
            <a:r>
              <a:rPr lang="en-IN" sz="2600" dirty="0">
                <a:solidFill>
                  <a:schemeClr val="tx1"/>
                </a:solidFill>
                <a:latin typeface="Sitka Subheading Semibold" pitchFamily="2" charset="0"/>
              </a:rPr>
              <a:t> designed to automate and simplify residential society operations. It integrates resident management, complaint handling, visitor management, maintenance payments, and communication into a centralized platform using a database-driven architecture.</a:t>
            </a:r>
          </a:p>
          <a:p>
            <a:endParaRPr lang="en-IN" sz="4000" b="1" u="sng" dirty="0">
              <a:latin typeface="Calisto MT" panose="02040603050505030304" pitchFamily="18" charset="0"/>
            </a:endParaRP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5746035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642C66-B2DC-D354-B01B-5568475D3A95}"/>
              </a:ext>
            </a:extLst>
          </p:cNvPr>
          <p:cNvSpPr txBox="1"/>
          <p:nvPr/>
        </p:nvSpPr>
        <p:spPr>
          <a:xfrm>
            <a:off x="727587" y="688258"/>
            <a:ext cx="10550013" cy="3539430"/>
          </a:xfrm>
          <a:prstGeom prst="rect">
            <a:avLst/>
          </a:prstGeom>
          <a:noFill/>
        </p:spPr>
        <p:txBody>
          <a:bodyPr wrap="square" rtlCol="0">
            <a:spAutoFit/>
          </a:bodyPr>
          <a:lstStyle/>
          <a:p>
            <a:r>
              <a:rPr lang="en-US" sz="4000" b="1" u="sng" dirty="0">
                <a:latin typeface="Calisto MT" panose="02040603050505030304" pitchFamily="18" charset="0"/>
              </a:rPr>
              <a:t>Target users:</a:t>
            </a:r>
          </a:p>
          <a:p>
            <a:endParaRPr lang="en-US" sz="4000" b="1" u="sng" dirty="0">
              <a:latin typeface="Calisto MT" panose="02040603050505030304" pitchFamily="18" charset="0"/>
            </a:endParaRPr>
          </a:p>
          <a:p>
            <a:pPr marL="514350" indent="-514350" algn="just">
              <a:buFont typeface="+mj-lt"/>
              <a:buAutoNum type="arabicPeriod"/>
            </a:pPr>
            <a:r>
              <a:rPr lang="en-IN" sz="2600" dirty="0">
                <a:solidFill>
                  <a:schemeClr val="tx1"/>
                </a:solidFill>
                <a:latin typeface="Sitka Subheading Semibold" pitchFamily="2" charset="0"/>
              </a:rPr>
              <a:t>Society Administrator </a:t>
            </a:r>
          </a:p>
          <a:p>
            <a:pPr marL="514350" indent="-514350" algn="just">
              <a:buFont typeface="+mj-lt"/>
              <a:buAutoNum type="arabicPeriod"/>
            </a:pPr>
            <a:r>
              <a:rPr lang="en-IN" sz="2600" dirty="0">
                <a:solidFill>
                  <a:schemeClr val="tx1"/>
                </a:solidFill>
                <a:latin typeface="Sitka Subheading Semibold" pitchFamily="2" charset="0"/>
              </a:rPr>
              <a:t>Residents </a:t>
            </a:r>
          </a:p>
          <a:p>
            <a:pPr marL="514350" indent="-514350" algn="just">
              <a:buFont typeface="+mj-lt"/>
              <a:buAutoNum type="arabicPeriod"/>
            </a:pPr>
            <a:r>
              <a:rPr lang="en-IN" sz="2600" dirty="0">
                <a:solidFill>
                  <a:schemeClr val="tx1"/>
                </a:solidFill>
                <a:latin typeface="Sitka Subheading Semibold" pitchFamily="2" charset="0"/>
              </a:rPr>
              <a:t>Security Guards </a:t>
            </a:r>
          </a:p>
          <a:p>
            <a:pPr marL="514350" indent="-514350" algn="just">
              <a:buFont typeface="+mj-lt"/>
              <a:buAutoNum type="arabicPeriod"/>
            </a:pPr>
            <a:r>
              <a:rPr lang="en-IN" sz="2600" dirty="0">
                <a:solidFill>
                  <a:schemeClr val="tx1"/>
                </a:solidFill>
                <a:latin typeface="Sitka Subheading Semibold" pitchFamily="2" charset="0"/>
              </a:rPr>
              <a:t>Committee Members </a:t>
            </a: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173155562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75993-5216-9E29-FF13-C01F210D14AA}"/>
              </a:ext>
            </a:extLst>
          </p:cNvPr>
          <p:cNvSpPr txBox="1"/>
          <p:nvPr/>
        </p:nvSpPr>
        <p:spPr>
          <a:xfrm>
            <a:off x="775504" y="729205"/>
            <a:ext cx="10648709" cy="1323439"/>
          </a:xfrm>
          <a:prstGeom prst="rect">
            <a:avLst/>
          </a:prstGeom>
          <a:noFill/>
        </p:spPr>
        <p:txBody>
          <a:bodyPr wrap="square" rtlCol="0">
            <a:spAutoFit/>
          </a:bodyPr>
          <a:lstStyle/>
          <a:p>
            <a:r>
              <a:rPr lang="en-US" sz="4000" b="1" u="sng" dirty="0">
                <a:latin typeface="Calisto MT" panose="02040603050505030304" pitchFamily="18" charset="0"/>
              </a:rPr>
              <a:t>User roles:</a:t>
            </a:r>
          </a:p>
          <a:p>
            <a:endParaRPr lang="en-US" sz="4000" b="1" u="sng" dirty="0">
              <a:latin typeface="Calisto MT" panose="02040603050505030304" pitchFamily="18" charset="0"/>
            </a:endParaRPr>
          </a:p>
        </p:txBody>
      </p:sp>
      <p:sp>
        <p:nvSpPr>
          <p:cNvPr id="3" name="Rectangle: Rounded Corners 2">
            <a:extLst>
              <a:ext uri="{FF2B5EF4-FFF2-40B4-BE49-F238E27FC236}">
                <a16:creationId xmlns:a16="http://schemas.microsoft.com/office/drawing/2014/main" id="{C160062E-AB7E-AB84-D8A9-BFFF84A441EE}"/>
              </a:ext>
            </a:extLst>
          </p:cNvPr>
          <p:cNvSpPr/>
          <p:nvPr/>
        </p:nvSpPr>
        <p:spPr>
          <a:xfrm>
            <a:off x="738754" y="2021449"/>
            <a:ext cx="5165653" cy="3993988"/>
          </a:xfrm>
          <a:prstGeom prst="roundRect">
            <a:avLst>
              <a:gd name="adj" fmla="val 1222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45FDE8A6-662B-538E-145A-3886F8A087CA}"/>
              </a:ext>
            </a:extLst>
          </p:cNvPr>
          <p:cNvSpPr txBox="1"/>
          <p:nvPr/>
        </p:nvSpPr>
        <p:spPr>
          <a:xfrm>
            <a:off x="1081548" y="2340077"/>
            <a:ext cx="4680155" cy="3477875"/>
          </a:xfrm>
          <a:prstGeom prst="rect">
            <a:avLst/>
          </a:prstGeom>
          <a:noFill/>
        </p:spPr>
        <p:txBody>
          <a:bodyPr wrap="square" rtlCol="0">
            <a:spAutoFit/>
          </a:bodyPr>
          <a:lstStyle/>
          <a:p>
            <a:r>
              <a:rPr lang="en-US" sz="2000" b="1" dirty="0">
                <a:solidFill>
                  <a:schemeClr val="tx1"/>
                </a:solidFill>
                <a:latin typeface="Calisto MT" panose="02040603050505030304" pitchFamily="18" charset="0"/>
              </a:rPr>
              <a:t>1. </a:t>
            </a:r>
            <a:r>
              <a:rPr lang="en-US" sz="2000" b="1" u="sng" dirty="0">
                <a:solidFill>
                  <a:schemeClr val="tx1"/>
                </a:solidFill>
                <a:latin typeface="Calisto MT" panose="02040603050505030304" pitchFamily="18" charset="0"/>
              </a:rPr>
              <a:t>Society Administrator:</a:t>
            </a:r>
          </a:p>
          <a:p>
            <a:r>
              <a:rPr lang="en-US" sz="2000" b="1" u="sng" dirty="0">
                <a:solidFill>
                  <a:schemeClr val="tx1"/>
                </a:solidFill>
                <a:latin typeface="Calisto MT" panose="02040603050505030304" pitchFamily="18" charset="0"/>
              </a:rPr>
              <a:t> </a:t>
            </a:r>
          </a:p>
          <a:p>
            <a:pPr marL="285750" indent="-285750">
              <a:buFont typeface="Arial" panose="020B0604020202020204" pitchFamily="34" charset="0"/>
              <a:buChar char="•"/>
            </a:pPr>
            <a:r>
              <a:rPr lang="en-IN" dirty="0">
                <a:solidFill>
                  <a:schemeClr val="tx1"/>
                </a:solidFill>
                <a:latin typeface="Sitka Subheading Semibold" pitchFamily="2" charset="0"/>
              </a:rPr>
              <a:t>Manage resident records. </a:t>
            </a:r>
          </a:p>
          <a:p>
            <a:pPr marL="285750" indent="-285750">
              <a:buFont typeface="Arial" panose="020B0604020202020204" pitchFamily="34" charset="0"/>
              <a:buChar char="•"/>
            </a:pPr>
            <a:r>
              <a:rPr lang="en-IN" dirty="0">
                <a:solidFill>
                  <a:schemeClr val="tx1"/>
                </a:solidFill>
                <a:latin typeface="Sitka Subheading Semibold" pitchFamily="2" charset="0"/>
              </a:rPr>
              <a:t>Approve resident registrations. </a:t>
            </a:r>
          </a:p>
          <a:p>
            <a:pPr marL="285750" indent="-285750">
              <a:buFont typeface="Arial" panose="020B0604020202020204" pitchFamily="34" charset="0"/>
              <a:buChar char="•"/>
            </a:pPr>
            <a:r>
              <a:rPr lang="en-IN" dirty="0">
                <a:solidFill>
                  <a:schemeClr val="tx1"/>
                </a:solidFill>
                <a:latin typeface="Sitka Subheading Semibold" pitchFamily="2" charset="0"/>
              </a:rPr>
              <a:t>Handle and resolve complaints. </a:t>
            </a:r>
          </a:p>
          <a:p>
            <a:pPr marL="285750" indent="-285750">
              <a:buFont typeface="Arial" panose="020B0604020202020204" pitchFamily="34" charset="0"/>
              <a:buChar char="•"/>
            </a:pPr>
            <a:r>
              <a:rPr lang="en-IN" dirty="0">
                <a:solidFill>
                  <a:schemeClr val="tx1"/>
                </a:solidFill>
                <a:latin typeface="Sitka Subheading Semibold" pitchFamily="2" charset="0"/>
              </a:rPr>
              <a:t>Manage maintenance fees and payment records. </a:t>
            </a:r>
          </a:p>
          <a:p>
            <a:pPr marL="285750" indent="-285750">
              <a:buFont typeface="Arial" panose="020B0604020202020204" pitchFamily="34" charset="0"/>
              <a:buChar char="•"/>
            </a:pPr>
            <a:r>
              <a:rPr lang="en-IN" dirty="0">
                <a:solidFill>
                  <a:schemeClr val="tx1"/>
                </a:solidFill>
                <a:latin typeface="Sitka Subheading Semibold" pitchFamily="2" charset="0"/>
              </a:rPr>
              <a:t>Publish notices and announcements. </a:t>
            </a:r>
          </a:p>
          <a:p>
            <a:pPr marL="285750" indent="-285750">
              <a:buFont typeface="Arial" panose="020B0604020202020204" pitchFamily="34" charset="0"/>
              <a:buChar char="•"/>
            </a:pPr>
            <a:r>
              <a:rPr lang="en-IN" dirty="0">
                <a:solidFill>
                  <a:schemeClr val="tx1"/>
                </a:solidFill>
                <a:latin typeface="Sitka Subheading Semibold" pitchFamily="2" charset="0"/>
              </a:rPr>
              <a:t>Manage facility bookings. </a:t>
            </a:r>
          </a:p>
          <a:p>
            <a:pPr marL="285750" indent="-285750">
              <a:buFont typeface="Arial" panose="020B0604020202020204" pitchFamily="34" charset="0"/>
              <a:buChar char="•"/>
            </a:pPr>
            <a:r>
              <a:rPr lang="en-IN" dirty="0">
                <a:solidFill>
                  <a:schemeClr val="tx1"/>
                </a:solidFill>
                <a:latin typeface="Sitka Subheading Semibold" pitchFamily="2" charset="0"/>
              </a:rPr>
              <a:t>Generate reports and monitor overall society activities.</a:t>
            </a:r>
            <a:endParaRPr lang="en-US" b="1" u="sng" dirty="0">
              <a:solidFill>
                <a:schemeClr val="tx1"/>
              </a:solidFill>
              <a:latin typeface="Sitka Subheading Semibold" pitchFamily="2" charset="0"/>
            </a:endParaRPr>
          </a:p>
          <a:p>
            <a:endParaRPr lang="en-IN" dirty="0"/>
          </a:p>
        </p:txBody>
      </p:sp>
      <p:sp>
        <p:nvSpPr>
          <p:cNvPr id="6" name="Rectangle: Rounded Corners 5">
            <a:extLst>
              <a:ext uri="{FF2B5EF4-FFF2-40B4-BE49-F238E27FC236}">
                <a16:creationId xmlns:a16="http://schemas.microsoft.com/office/drawing/2014/main" id="{19DF4F11-E1AC-ADB3-FD76-61680C7559F4}"/>
              </a:ext>
            </a:extLst>
          </p:cNvPr>
          <p:cNvSpPr/>
          <p:nvPr/>
        </p:nvSpPr>
        <p:spPr>
          <a:xfrm>
            <a:off x="6329912" y="2021449"/>
            <a:ext cx="5165653" cy="3993988"/>
          </a:xfrm>
          <a:prstGeom prst="roundRect">
            <a:avLst>
              <a:gd name="adj" fmla="val 1222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7" name="TextBox 6">
            <a:extLst>
              <a:ext uri="{FF2B5EF4-FFF2-40B4-BE49-F238E27FC236}">
                <a16:creationId xmlns:a16="http://schemas.microsoft.com/office/drawing/2014/main" id="{8798D2FA-080F-034E-D40B-464F7B41A3B2}"/>
              </a:ext>
            </a:extLst>
          </p:cNvPr>
          <p:cNvSpPr txBox="1"/>
          <p:nvPr/>
        </p:nvSpPr>
        <p:spPr>
          <a:xfrm>
            <a:off x="6711172" y="2340077"/>
            <a:ext cx="4399280" cy="2954655"/>
          </a:xfrm>
          <a:prstGeom prst="rect">
            <a:avLst/>
          </a:prstGeom>
          <a:noFill/>
        </p:spPr>
        <p:txBody>
          <a:bodyPr wrap="square" rtlCol="0">
            <a:spAutoFit/>
          </a:bodyPr>
          <a:lstStyle/>
          <a:p>
            <a:r>
              <a:rPr lang="en-US" sz="2000" b="1" dirty="0">
                <a:latin typeface="Calisto MT" panose="02040603050505030304" pitchFamily="18" charset="0"/>
              </a:rPr>
              <a:t>2. </a:t>
            </a:r>
            <a:r>
              <a:rPr lang="en-US" sz="2000" b="1" u="sng" dirty="0">
                <a:latin typeface="Calisto MT" panose="02040603050505030304" pitchFamily="18" charset="0"/>
              </a:rPr>
              <a:t>Residents:</a:t>
            </a:r>
          </a:p>
          <a:p>
            <a:endParaRPr lang="en-US" sz="2000" b="1" u="sng" dirty="0">
              <a:latin typeface="Calisto MT" panose="02040603050505030304" pitchFamily="18" charset="0"/>
            </a:endParaRPr>
          </a:p>
          <a:p>
            <a:pPr marL="285750" indent="-285750">
              <a:buFont typeface="Arial" panose="020B0604020202020204" pitchFamily="34" charset="0"/>
              <a:buChar char="•"/>
            </a:pPr>
            <a:r>
              <a:rPr lang="en-IN" dirty="0">
                <a:solidFill>
                  <a:schemeClr val="tx1"/>
                </a:solidFill>
                <a:latin typeface="Sitka Subheading Semibold" pitchFamily="2" charset="0"/>
              </a:rPr>
              <a:t>Register and log in to the system. </a:t>
            </a:r>
          </a:p>
          <a:p>
            <a:pPr marL="285750" indent="-285750">
              <a:buFont typeface="Arial" panose="020B0604020202020204" pitchFamily="34" charset="0"/>
              <a:buChar char="•"/>
            </a:pPr>
            <a:r>
              <a:rPr lang="en-IN" dirty="0">
                <a:solidFill>
                  <a:schemeClr val="tx1"/>
                </a:solidFill>
                <a:latin typeface="Sitka Subheading Semibold" pitchFamily="2" charset="0"/>
              </a:rPr>
              <a:t>Update personal profile. </a:t>
            </a:r>
          </a:p>
          <a:p>
            <a:pPr marL="285750" indent="-285750">
              <a:buFont typeface="Arial" panose="020B0604020202020204" pitchFamily="34" charset="0"/>
              <a:buChar char="•"/>
            </a:pPr>
            <a:r>
              <a:rPr lang="en-IN" dirty="0">
                <a:solidFill>
                  <a:schemeClr val="tx1"/>
                </a:solidFill>
                <a:latin typeface="Sitka Subheading Semibold" pitchFamily="2" charset="0"/>
              </a:rPr>
              <a:t>Submit and track complaints. </a:t>
            </a:r>
          </a:p>
          <a:p>
            <a:pPr marL="285750" indent="-285750">
              <a:buFont typeface="Arial" panose="020B0604020202020204" pitchFamily="34" charset="0"/>
              <a:buChar char="•"/>
            </a:pPr>
            <a:r>
              <a:rPr lang="en-IN" dirty="0">
                <a:solidFill>
                  <a:schemeClr val="tx1"/>
                </a:solidFill>
                <a:latin typeface="Sitka Subheading Semibold" pitchFamily="2" charset="0"/>
              </a:rPr>
              <a:t>Pay maintenance fees online. </a:t>
            </a:r>
          </a:p>
          <a:p>
            <a:pPr marL="285750" indent="-285750">
              <a:buFont typeface="Arial" panose="020B0604020202020204" pitchFamily="34" charset="0"/>
              <a:buChar char="•"/>
            </a:pPr>
            <a:r>
              <a:rPr lang="en-IN" dirty="0">
                <a:solidFill>
                  <a:schemeClr val="tx1"/>
                </a:solidFill>
                <a:latin typeface="Sitka Subheading Semibold" pitchFamily="2" charset="0"/>
              </a:rPr>
              <a:t>Book society facilities. </a:t>
            </a:r>
          </a:p>
          <a:p>
            <a:pPr marL="285750" indent="-285750">
              <a:buFont typeface="Arial" panose="020B0604020202020204" pitchFamily="34" charset="0"/>
              <a:buChar char="•"/>
            </a:pPr>
            <a:r>
              <a:rPr lang="en-IN" dirty="0">
                <a:solidFill>
                  <a:schemeClr val="tx1"/>
                </a:solidFill>
                <a:latin typeface="Sitka Subheading Semibold" pitchFamily="2" charset="0"/>
              </a:rPr>
              <a:t>Request visitor entry. </a:t>
            </a:r>
          </a:p>
          <a:p>
            <a:pPr marL="285750" indent="-285750">
              <a:buFont typeface="Arial" panose="020B0604020202020204" pitchFamily="34" charset="0"/>
              <a:buChar char="•"/>
            </a:pPr>
            <a:r>
              <a:rPr lang="en-IN" dirty="0">
                <a:solidFill>
                  <a:schemeClr val="tx1"/>
                </a:solidFill>
                <a:latin typeface="Sitka Subheading Semibold" pitchFamily="2" charset="0"/>
              </a:rPr>
              <a:t>View notices and announcements.</a:t>
            </a:r>
          </a:p>
          <a:p>
            <a:endParaRPr lang="en-IN" sz="2000" b="1" u="sng" dirty="0">
              <a:latin typeface="Calisto MT" panose="02040603050505030304" pitchFamily="18" charset="0"/>
            </a:endParaRPr>
          </a:p>
        </p:txBody>
      </p:sp>
    </p:spTree>
    <p:extLst>
      <p:ext uri="{BB962C8B-B14F-4D97-AF65-F5344CB8AC3E}">
        <p14:creationId xmlns:p14="http://schemas.microsoft.com/office/powerpoint/2010/main" val="135136417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0CC56E-8F0F-F6DD-A2D2-B93AE8DF8893}"/>
              </a:ext>
            </a:extLst>
          </p:cNvPr>
          <p:cNvSpPr txBox="1"/>
          <p:nvPr/>
        </p:nvSpPr>
        <p:spPr>
          <a:xfrm>
            <a:off x="729333" y="705612"/>
            <a:ext cx="10800080" cy="984885"/>
          </a:xfrm>
          <a:prstGeom prst="rect">
            <a:avLst/>
          </a:prstGeom>
          <a:noFill/>
        </p:spPr>
        <p:txBody>
          <a:bodyPr wrap="square" rtlCol="0">
            <a:spAutoFit/>
          </a:bodyPr>
          <a:lstStyle/>
          <a:p>
            <a:r>
              <a:rPr lang="en-US" sz="4000" b="1" u="sng" dirty="0">
                <a:latin typeface="Calisto MT" panose="02040603050505030304" pitchFamily="18" charset="0"/>
              </a:rPr>
              <a:t>User roles:</a:t>
            </a:r>
          </a:p>
          <a:p>
            <a:endParaRPr lang="en-IN" dirty="0"/>
          </a:p>
        </p:txBody>
      </p:sp>
      <p:sp>
        <p:nvSpPr>
          <p:cNvPr id="4" name="Rectangle: Rounded Corners 3">
            <a:extLst>
              <a:ext uri="{FF2B5EF4-FFF2-40B4-BE49-F238E27FC236}">
                <a16:creationId xmlns:a16="http://schemas.microsoft.com/office/drawing/2014/main" id="{6B0CE928-0DC5-8427-8FCF-F1399AF5DF09}"/>
              </a:ext>
            </a:extLst>
          </p:cNvPr>
          <p:cNvSpPr/>
          <p:nvPr/>
        </p:nvSpPr>
        <p:spPr>
          <a:xfrm>
            <a:off x="729333" y="1990253"/>
            <a:ext cx="5165653" cy="3993988"/>
          </a:xfrm>
          <a:prstGeom prst="roundRect">
            <a:avLst>
              <a:gd name="adj" fmla="val 1222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5" name="TextBox 4">
            <a:extLst>
              <a:ext uri="{FF2B5EF4-FFF2-40B4-BE49-F238E27FC236}">
                <a16:creationId xmlns:a16="http://schemas.microsoft.com/office/drawing/2014/main" id="{7AD85F48-0AF6-8D2C-FC47-99A434B1EC79}"/>
              </a:ext>
            </a:extLst>
          </p:cNvPr>
          <p:cNvSpPr txBox="1"/>
          <p:nvPr/>
        </p:nvSpPr>
        <p:spPr>
          <a:xfrm>
            <a:off x="1168399" y="2212848"/>
            <a:ext cx="4287520" cy="2954655"/>
          </a:xfrm>
          <a:prstGeom prst="rect">
            <a:avLst/>
          </a:prstGeom>
          <a:noFill/>
        </p:spPr>
        <p:txBody>
          <a:bodyPr wrap="square" rtlCol="0">
            <a:spAutoFit/>
          </a:bodyPr>
          <a:lstStyle/>
          <a:p>
            <a:r>
              <a:rPr lang="en-US" sz="2000" b="1" dirty="0">
                <a:latin typeface="Calisto MT" panose="02040603050505030304" pitchFamily="18" charset="0"/>
              </a:rPr>
              <a:t>3. </a:t>
            </a:r>
            <a:r>
              <a:rPr lang="en-US" sz="2000" b="1" u="sng" dirty="0">
                <a:latin typeface="Calisto MT" panose="02040603050505030304" pitchFamily="18" charset="0"/>
              </a:rPr>
              <a:t>Security guard:</a:t>
            </a:r>
          </a:p>
          <a:p>
            <a:endParaRPr lang="en-US" sz="2000" b="1" u="sng" dirty="0">
              <a:latin typeface="Calisto MT" panose="02040603050505030304" pitchFamily="18" charset="0"/>
            </a:endParaRPr>
          </a:p>
          <a:p>
            <a:pPr marL="285750" indent="-285750">
              <a:buFont typeface="Arial" panose="020B0604020202020204" pitchFamily="34" charset="0"/>
              <a:buChar char="•"/>
            </a:pPr>
            <a:r>
              <a:rPr lang="en-IN" dirty="0">
                <a:solidFill>
                  <a:schemeClr val="tx1"/>
                </a:solidFill>
                <a:latin typeface="Sitka Subheading Semibold" pitchFamily="2" charset="0"/>
              </a:rPr>
              <a:t>Verify visitor identity. </a:t>
            </a:r>
          </a:p>
          <a:p>
            <a:pPr marL="285750" indent="-285750">
              <a:buFont typeface="Arial" panose="020B0604020202020204" pitchFamily="34" charset="0"/>
              <a:buChar char="•"/>
            </a:pPr>
            <a:r>
              <a:rPr lang="en-IN" dirty="0">
                <a:solidFill>
                  <a:schemeClr val="tx1"/>
                </a:solidFill>
                <a:latin typeface="Sitka Subheading Semibold" pitchFamily="2" charset="0"/>
              </a:rPr>
              <a:t>Approve or deny visitor entry based on resident approval. </a:t>
            </a:r>
          </a:p>
          <a:p>
            <a:pPr marL="285750" indent="-285750">
              <a:buFont typeface="Arial" panose="020B0604020202020204" pitchFamily="34" charset="0"/>
              <a:buChar char="•"/>
            </a:pPr>
            <a:r>
              <a:rPr lang="en-IN" dirty="0">
                <a:solidFill>
                  <a:schemeClr val="tx1"/>
                </a:solidFill>
                <a:latin typeface="Sitka Subheading Semibold" pitchFamily="2" charset="0"/>
              </a:rPr>
              <a:t>Record visitor entry and exit details. </a:t>
            </a:r>
          </a:p>
          <a:p>
            <a:pPr marL="285750" indent="-285750">
              <a:buFont typeface="Arial" panose="020B0604020202020204" pitchFamily="34" charset="0"/>
              <a:buChar char="•"/>
            </a:pPr>
            <a:r>
              <a:rPr lang="en-IN" dirty="0">
                <a:solidFill>
                  <a:schemeClr val="tx1"/>
                </a:solidFill>
                <a:latin typeface="Sitka Subheading Semibold" pitchFamily="2" charset="0"/>
              </a:rPr>
              <a:t>Monitor daily visitor logs. </a:t>
            </a:r>
          </a:p>
          <a:p>
            <a:pPr marL="285750" indent="-285750">
              <a:buFont typeface="Arial" panose="020B0604020202020204" pitchFamily="34" charset="0"/>
              <a:buChar char="•"/>
            </a:pPr>
            <a:r>
              <a:rPr lang="en-IN" dirty="0">
                <a:solidFill>
                  <a:schemeClr val="tx1"/>
                </a:solidFill>
                <a:latin typeface="Sitka Subheading Semibold" pitchFamily="2" charset="0"/>
              </a:rPr>
              <a:t>Notify residents about visitor arrivals.</a:t>
            </a:r>
          </a:p>
          <a:p>
            <a:endParaRPr lang="en-IN" sz="2000" b="1" u="sng" dirty="0">
              <a:latin typeface="Calisto MT" panose="02040603050505030304" pitchFamily="18" charset="0"/>
            </a:endParaRPr>
          </a:p>
        </p:txBody>
      </p:sp>
      <p:sp>
        <p:nvSpPr>
          <p:cNvPr id="9" name="Rectangle: Rounded Corners 8">
            <a:extLst>
              <a:ext uri="{FF2B5EF4-FFF2-40B4-BE49-F238E27FC236}">
                <a16:creationId xmlns:a16="http://schemas.microsoft.com/office/drawing/2014/main" id="{359783D8-53ED-E05A-5658-2918848CE697}"/>
              </a:ext>
            </a:extLst>
          </p:cNvPr>
          <p:cNvSpPr/>
          <p:nvPr/>
        </p:nvSpPr>
        <p:spPr>
          <a:xfrm>
            <a:off x="6334053" y="1990253"/>
            <a:ext cx="5165653" cy="3993988"/>
          </a:xfrm>
          <a:prstGeom prst="roundRect">
            <a:avLst>
              <a:gd name="adj" fmla="val 1222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0" name="TextBox 9">
            <a:extLst>
              <a:ext uri="{FF2B5EF4-FFF2-40B4-BE49-F238E27FC236}">
                <a16:creationId xmlns:a16="http://schemas.microsoft.com/office/drawing/2014/main" id="{B1C6931B-5763-C8F0-8CFF-C60D7726B96E}"/>
              </a:ext>
            </a:extLst>
          </p:cNvPr>
          <p:cNvSpPr txBox="1"/>
          <p:nvPr/>
        </p:nvSpPr>
        <p:spPr>
          <a:xfrm>
            <a:off x="6823918" y="2212848"/>
            <a:ext cx="4185921" cy="2923877"/>
          </a:xfrm>
          <a:prstGeom prst="rect">
            <a:avLst/>
          </a:prstGeom>
          <a:noFill/>
        </p:spPr>
        <p:txBody>
          <a:bodyPr wrap="square" rtlCol="0">
            <a:spAutoFit/>
          </a:bodyPr>
          <a:lstStyle/>
          <a:p>
            <a:r>
              <a:rPr lang="en-US" sz="2000" b="1" dirty="0">
                <a:latin typeface="Calisto MT" panose="02040603050505030304" pitchFamily="18" charset="0"/>
              </a:rPr>
              <a:t>4. </a:t>
            </a:r>
            <a:r>
              <a:rPr lang="en-US" sz="2000" b="1" u="sng" dirty="0">
                <a:latin typeface="Calisto MT" panose="02040603050505030304" pitchFamily="18" charset="0"/>
              </a:rPr>
              <a:t>Committee members:</a:t>
            </a:r>
          </a:p>
          <a:p>
            <a:endParaRPr lang="en-US" sz="2000" b="1" u="sng" dirty="0">
              <a:latin typeface="Calisto MT" panose="02040603050505030304" pitchFamily="18" charset="0"/>
            </a:endParaRPr>
          </a:p>
          <a:p>
            <a:pPr marL="285750" indent="-285750">
              <a:buFont typeface="Arial" panose="020B0604020202020204" pitchFamily="34" charset="0"/>
              <a:buChar char="•"/>
            </a:pPr>
            <a:r>
              <a:rPr lang="en-IN" dirty="0">
                <a:solidFill>
                  <a:schemeClr val="tx1"/>
                </a:solidFill>
                <a:latin typeface="Sitka Subheading Semibold" pitchFamily="2" charset="0"/>
              </a:rPr>
              <a:t>View society reports and statistics. </a:t>
            </a:r>
          </a:p>
          <a:p>
            <a:pPr marL="285750" indent="-285750">
              <a:buFont typeface="Arial" panose="020B0604020202020204" pitchFamily="34" charset="0"/>
              <a:buChar char="•"/>
            </a:pPr>
            <a:r>
              <a:rPr lang="en-IN" dirty="0">
                <a:solidFill>
                  <a:schemeClr val="tx1"/>
                </a:solidFill>
                <a:latin typeface="Sitka Subheading Semibold" pitchFamily="2" charset="0"/>
              </a:rPr>
              <a:t>Monitor complaint status and maintenance activities. </a:t>
            </a:r>
          </a:p>
          <a:p>
            <a:pPr marL="285750" indent="-285750">
              <a:buFont typeface="Arial" panose="020B0604020202020204" pitchFamily="34" charset="0"/>
              <a:buChar char="•"/>
            </a:pPr>
            <a:r>
              <a:rPr lang="en-IN" dirty="0">
                <a:solidFill>
                  <a:schemeClr val="tx1"/>
                </a:solidFill>
                <a:latin typeface="Sitka Subheading Semibold" pitchFamily="2" charset="0"/>
              </a:rPr>
              <a:t>Review financial summaries. </a:t>
            </a:r>
          </a:p>
          <a:p>
            <a:pPr marL="285750" indent="-285750">
              <a:buFont typeface="Arial" panose="020B0604020202020204" pitchFamily="34" charset="0"/>
              <a:buChar char="•"/>
            </a:pPr>
            <a:r>
              <a:rPr lang="en-IN" dirty="0">
                <a:solidFill>
                  <a:schemeClr val="tx1"/>
                </a:solidFill>
                <a:latin typeface="Sitka Subheading Semibold" pitchFamily="2" charset="0"/>
              </a:rPr>
              <a:t>Assist the administrator in decision-making. </a:t>
            </a:r>
          </a:p>
          <a:p>
            <a:pPr marL="285750" indent="-285750">
              <a:buFont typeface="Arial" panose="020B0604020202020204" pitchFamily="34" charset="0"/>
              <a:buChar char="•"/>
            </a:pPr>
            <a:r>
              <a:rPr lang="en-IN" dirty="0">
                <a:solidFill>
                  <a:schemeClr val="tx1"/>
                </a:solidFill>
                <a:latin typeface="Sitka Subheading Semibold" pitchFamily="2" charset="0"/>
              </a:rPr>
              <a:t>Suggest improvements for society management.</a:t>
            </a:r>
            <a:endParaRPr lang="en-IN" b="1" u="sng" dirty="0">
              <a:latin typeface="Sitka Subheading Semibold" pitchFamily="2" charset="0"/>
            </a:endParaRPr>
          </a:p>
        </p:txBody>
      </p:sp>
    </p:spTree>
    <p:extLst>
      <p:ext uri="{BB962C8B-B14F-4D97-AF65-F5344CB8AC3E}">
        <p14:creationId xmlns:p14="http://schemas.microsoft.com/office/powerpoint/2010/main" val="240999983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238359-512E-6953-52A4-3F614A5A25D4}"/>
              </a:ext>
            </a:extLst>
          </p:cNvPr>
          <p:cNvSpPr txBox="1"/>
          <p:nvPr/>
        </p:nvSpPr>
        <p:spPr>
          <a:xfrm>
            <a:off x="578734" y="671332"/>
            <a:ext cx="10938076" cy="1323439"/>
          </a:xfrm>
          <a:prstGeom prst="rect">
            <a:avLst/>
          </a:prstGeom>
          <a:noFill/>
        </p:spPr>
        <p:txBody>
          <a:bodyPr wrap="square" rtlCol="0">
            <a:spAutoFit/>
          </a:bodyPr>
          <a:lstStyle/>
          <a:p>
            <a:r>
              <a:rPr lang="en-US" sz="4000" b="1" u="sng" dirty="0">
                <a:latin typeface="Calisto MT" panose="02040603050505030304" pitchFamily="18" charset="0"/>
              </a:rPr>
              <a:t>Major modules:</a:t>
            </a:r>
          </a:p>
          <a:p>
            <a:endParaRPr lang="en-IN" sz="4000" b="1" u="sng" dirty="0">
              <a:latin typeface="Calisto MT" panose="02040603050505030304" pitchFamily="18" charset="0"/>
            </a:endParaRPr>
          </a:p>
        </p:txBody>
      </p:sp>
      <p:sp>
        <p:nvSpPr>
          <p:cNvPr id="14" name="Text 45">
            <a:extLst>
              <a:ext uri="{FF2B5EF4-FFF2-40B4-BE49-F238E27FC236}">
                <a16:creationId xmlns:a16="http://schemas.microsoft.com/office/drawing/2014/main" id="{3DC64268-9105-881D-4677-9869D8B53433}"/>
              </a:ext>
            </a:extLst>
          </p:cNvPr>
          <p:cNvSpPr/>
          <p:nvPr/>
        </p:nvSpPr>
        <p:spPr>
          <a:xfrm>
            <a:off x="9215951" y="7406640"/>
            <a:ext cx="2331720" cy="68580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endParaRPr lang="en-US" sz="1200" dirty="0"/>
          </a:p>
        </p:txBody>
      </p:sp>
      <p:sp>
        <p:nvSpPr>
          <p:cNvPr id="15" name="Shape 2">
            <a:extLst>
              <a:ext uri="{FF2B5EF4-FFF2-40B4-BE49-F238E27FC236}">
                <a16:creationId xmlns:a16="http://schemas.microsoft.com/office/drawing/2014/main" id="{C57E19C9-D0CC-DB63-5FB8-EABF122F0A56}"/>
              </a:ext>
            </a:extLst>
          </p:cNvPr>
          <p:cNvSpPr/>
          <p:nvPr/>
        </p:nvSpPr>
        <p:spPr>
          <a:xfrm>
            <a:off x="675190" y="1994771"/>
            <a:ext cx="2514600" cy="1874520"/>
          </a:xfrm>
          <a:prstGeom prst="roundRect">
            <a:avLst>
              <a:gd name="adj" fmla="val 5854"/>
            </a:avLst>
          </a:prstGeom>
          <a:solidFill>
            <a:schemeClr val="tx2">
              <a:lumMod val="90000"/>
              <a:lumOff val="10000"/>
            </a:schemeClr>
          </a:solidFill>
          <a:ln w="12700">
            <a:solidFill>
              <a:srgbClr val="3A4568"/>
            </a:solidFill>
            <a:prstDash val="solid"/>
          </a:ln>
        </p:spPr>
        <p:txBody>
          <a:bodyPr/>
          <a:lstStyle/>
          <a:p>
            <a:endParaRPr lang="en-IN" sz="1400" dirty="0">
              <a:solidFill>
                <a:schemeClr val="bg1"/>
              </a:solidFill>
            </a:endParaRPr>
          </a:p>
        </p:txBody>
      </p:sp>
      <p:sp>
        <p:nvSpPr>
          <p:cNvPr id="16" name="Shape 3">
            <a:extLst>
              <a:ext uri="{FF2B5EF4-FFF2-40B4-BE49-F238E27FC236}">
                <a16:creationId xmlns:a16="http://schemas.microsoft.com/office/drawing/2014/main" id="{8A83C28B-7F7C-1902-CF49-7D68C020F21B}"/>
              </a:ext>
            </a:extLst>
          </p:cNvPr>
          <p:cNvSpPr/>
          <p:nvPr/>
        </p:nvSpPr>
        <p:spPr>
          <a:xfrm>
            <a:off x="1507341" y="2223371"/>
            <a:ext cx="777240" cy="777240"/>
          </a:xfrm>
          <a:prstGeom prst="ellipse">
            <a:avLst/>
          </a:prstGeom>
          <a:solidFill>
            <a:srgbClr val="FFC000"/>
          </a:solidFill>
          <a:ln/>
        </p:spPr>
        <p:txBody>
          <a:bodyPr/>
          <a:lstStyle/>
          <a:p>
            <a:endParaRPr lang="en-IN" sz="1400">
              <a:solidFill>
                <a:schemeClr val="bg1"/>
              </a:solidFill>
            </a:endParaRPr>
          </a:p>
        </p:txBody>
      </p:sp>
      <p:pic>
        <p:nvPicPr>
          <p:cNvPr id="17" name="Image 1">
            <a:extLst>
              <a:ext uri="{FF2B5EF4-FFF2-40B4-BE49-F238E27FC236}">
                <a16:creationId xmlns:a16="http://schemas.microsoft.com/office/drawing/2014/main" id="{5B585774-6623-AB10-5E85-55D3A067901B}"/>
              </a:ext>
            </a:extLst>
          </p:cNvPr>
          <p:cNvPicPr>
            <a:picLocks noChangeAspect="1"/>
          </p:cNvPicPr>
          <p:nvPr/>
        </p:nvPicPr>
        <p:blipFill>
          <a:blip r:embed="rId2"/>
          <a:stretch>
            <a:fillRect/>
          </a:stretch>
        </p:blipFill>
        <p:spPr>
          <a:xfrm>
            <a:off x="1682220" y="2398250"/>
            <a:ext cx="427482" cy="427482"/>
          </a:xfrm>
          <a:prstGeom prst="rect">
            <a:avLst/>
          </a:prstGeom>
          <a:solidFill>
            <a:srgbClr val="FFC000"/>
          </a:solidFill>
        </p:spPr>
      </p:pic>
      <p:sp>
        <p:nvSpPr>
          <p:cNvPr id="18" name="Text 4">
            <a:extLst>
              <a:ext uri="{FF2B5EF4-FFF2-40B4-BE49-F238E27FC236}">
                <a16:creationId xmlns:a16="http://schemas.microsoft.com/office/drawing/2014/main" id="{488E40D2-375F-ACAF-303A-3BAD5A9F16AB}"/>
              </a:ext>
            </a:extLst>
          </p:cNvPr>
          <p:cNvSpPr/>
          <p:nvPr/>
        </p:nvSpPr>
        <p:spPr>
          <a:xfrm>
            <a:off x="730101" y="3092051"/>
            <a:ext cx="2331720" cy="685800"/>
          </a:xfrm>
          <a:prstGeom prst="rect">
            <a:avLst/>
          </a:prstGeom>
          <a:solidFill>
            <a:schemeClr val="tx2">
              <a:lumMod val="90000"/>
              <a:lumOff val="10000"/>
            </a:schemeClr>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Authentication</a:t>
            </a:r>
            <a:endParaRPr lang="en-US" sz="1400" dirty="0">
              <a:solidFill>
                <a:schemeClr val="bg1"/>
              </a:solidFill>
            </a:endParaRPr>
          </a:p>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(Role-Based)</a:t>
            </a:r>
            <a:endParaRPr lang="en-US" sz="1400" dirty="0">
              <a:solidFill>
                <a:schemeClr val="bg1"/>
              </a:solidFill>
            </a:endParaRPr>
          </a:p>
        </p:txBody>
      </p:sp>
      <p:sp>
        <p:nvSpPr>
          <p:cNvPr id="19" name="Shape 5">
            <a:extLst>
              <a:ext uri="{FF2B5EF4-FFF2-40B4-BE49-F238E27FC236}">
                <a16:creationId xmlns:a16="http://schemas.microsoft.com/office/drawing/2014/main" id="{25DCD086-6D24-8F9D-79F9-7A824C6FD1A7}"/>
              </a:ext>
            </a:extLst>
          </p:cNvPr>
          <p:cNvSpPr/>
          <p:nvPr/>
        </p:nvSpPr>
        <p:spPr>
          <a:xfrm>
            <a:off x="3290421" y="1994771"/>
            <a:ext cx="2514600" cy="1874520"/>
          </a:xfrm>
          <a:prstGeom prst="roundRect">
            <a:avLst>
              <a:gd name="adj" fmla="val 5854"/>
            </a:avLst>
          </a:prstGeom>
          <a:solidFill>
            <a:schemeClr val="tx2">
              <a:lumMod val="90000"/>
              <a:lumOff val="10000"/>
            </a:schemeClr>
          </a:solidFill>
          <a:ln w="12700">
            <a:solidFill>
              <a:srgbClr val="3A4568"/>
            </a:solidFill>
            <a:prstDash val="solid"/>
          </a:ln>
        </p:spPr>
        <p:txBody>
          <a:bodyPr/>
          <a:lstStyle/>
          <a:p>
            <a:endParaRPr lang="en-IN" sz="1400">
              <a:solidFill>
                <a:schemeClr val="bg1"/>
              </a:solidFill>
            </a:endParaRPr>
          </a:p>
        </p:txBody>
      </p:sp>
      <p:sp>
        <p:nvSpPr>
          <p:cNvPr id="20" name="Shape 6">
            <a:extLst>
              <a:ext uri="{FF2B5EF4-FFF2-40B4-BE49-F238E27FC236}">
                <a16:creationId xmlns:a16="http://schemas.microsoft.com/office/drawing/2014/main" id="{A38D1191-31FA-2FFE-BED6-F114DB074A8A}"/>
              </a:ext>
            </a:extLst>
          </p:cNvPr>
          <p:cNvSpPr/>
          <p:nvPr/>
        </p:nvSpPr>
        <p:spPr>
          <a:xfrm>
            <a:off x="4159101" y="2223371"/>
            <a:ext cx="777240" cy="777240"/>
          </a:xfrm>
          <a:prstGeom prst="ellipse">
            <a:avLst/>
          </a:prstGeom>
          <a:solidFill>
            <a:schemeClr val="accent6">
              <a:lumMod val="60000"/>
              <a:lumOff val="40000"/>
            </a:schemeClr>
          </a:solidFill>
          <a:ln/>
        </p:spPr>
        <p:txBody>
          <a:bodyPr/>
          <a:lstStyle/>
          <a:p>
            <a:endParaRPr lang="en-IN" sz="1400">
              <a:solidFill>
                <a:schemeClr val="bg1"/>
              </a:solidFill>
            </a:endParaRPr>
          </a:p>
        </p:txBody>
      </p:sp>
      <p:pic>
        <p:nvPicPr>
          <p:cNvPr id="21" name="Image 2">
            <a:extLst>
              <a:ext uri="{FF2B5EF4-FFF2-40B4-BE49-F238E27FC236}">
                <a16:creationId xmlns:a16="http://schemas.microsoft.com/office/drawing/2014/main" id="{AEEDD914-5322-C40D-5A25-AEC80889FE3D}"/>
              </a:ext>
            </a:extLst>
          </p:cNvPr>
          <p:cNvPicPr>
            <a:picLocks noChangeAspect="1"/>
          </p:cNvPicPr>
          <p:nvPr/>
        </p:nvPicPr>
        <p:blipFill>
          <a:blip r:embed="rId3"/>
          <a:stretch>
            <a:fillRect/>
          </a:stretch>
        </p:blipFill>
        <p:spPr>
          <a:xfrm>
            <a:off x="4333980" y="2398250"/>
            <a:ext cx="427482" cy="427482"/>
          </a:xfrm>
          <a:prstGeom prst="rect">
            <a:avLst/>
          </a:prstGeom>
          <a:solidFill>
            <a:schemeClr val="accent6">
              <a:lumMod val="60000"/>
              <a:lumOff val="40000"/>
            </a:schemeClr>
          </a:solidFill>
        </p:spPr>
      </p:pic>
      <p:sp>
        <p:nvSpPr>
          <p:cNvPr id="22" name="Text 7">
            <a:extLst>
              <a:ext uri="{FF2B5EF4-FFF2-40B4-BE49-F238E27FC236}">
                <a16:creationId xmlns:a16="http://schemas.microsoft.com/office/drawing/2014/main" id="{0FD2840C-9863-1D45-E053-361BC712F76A}"/>
              </a:ext>
            </a:extLst>
          </p:cNvPr>
          <p:cNvSpPr/>
          <p:nvPr/>
        </p:nvSpPr>
        <p:spPr>
          <a:xfrm>
            <a:off x="3381861" y="3092051"/>
            <a:ext cx="2331720" cy="685800"/>
          </a:xfrm>
          <a:prstGeom prst="rect">
            <a:avLst/>
          </a:prstGeom>
          <a:solidFill>
            <a:schemeClr val="tx2">
              <a:lumMod val="90000"/>
              <a:lumOff val="10000"/>
            </a:schemeClr>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Resident</a:t>
            </a:r>
            <a:endParaRPr lang="en-US" sz="1400" dirty="0">
              <a:solidFill>
                <a:schemeClr val="bg1"/>
              </a:solidFill>
            </a:endParaRPr>
          </a:p>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Management</a:t>
            </a:r>
            <a:endParaRPr lang="en-US" sz="1400" dirty="0">
              <a:solidFill>
                <a:schemeClr val="bg1"/>
              </a:solidFill>
            </a:endParaRPr>
          </a:p>
        </p:txBody>
      </p:sp>
      <p:sp>
        <p:nvSpPr>
          <p:cNvPr id="23" name="Shape 8">
            <a:extLst>
              <a:ext uri="{FF2B5EF4-FFF2-40B4-BE49-F238E27FC236}">
                <a16:creationId xmlns:a16="http://schemas.microsoft.com/office/drawing/2014/main" id="{7D9CB287-D8D9-26AC-8CD4-1785EB89B724}"/>
              </a:ext>
            </a:extLst>
          </p:cNvPr>
          <p:cNvSpPr/>
          <p:nvPr/>
        </p:nvSpPr>
        <p:spPr>
          <a:xfrm>
            <a:off x="5942181" y="1994771"/>
            <a:ext cx="2514600" cy="1874520"/>
          </a:xfrm>
          <a:prstGeom prst="roundRect">
            <a:avLst>
              <a:gd name="adj" fmla="val 5854"/>
            </a:avLst>
          </a:prstGeom>
          <a:solidFill>
            <a:schemeClr val="tx2">
              <a:lumMod val="90000"/>
              <a:lumOff val="10000"/>
            </a:schemeClr>
          </a:solidFill>
          <a:ln w="12700">
            <a:solidFill>
              <a:srgbClr val="3A4568"/>
            </a:solidFill>
            <a:prstDash val="solid"/>
          </a:ln>
        </p:spPr>
        <p:txBody>
          <a:bodyPr/>
          <a:lstStyle/>
          <a:p>
            <a:endParaRPr lang="en-IN" sz="1400">
              <a:solidFill>
                <a:schemeClr val="bg1"/>
              </a:solidFill>
            </a:endParaRPr>
          </a:p>
        </p:txBody>
      </p:sp>
      <p:sp>
        <p:nvSpPr>
          <p:cNvPr id="24" name="Shape 9">
            <a:extLst>
              <a:ext uri="{FF2B5EF4-FFF2-40B4-BE49-F238E27FC236}">
                <a16:creationId xmlns:a16="http://schemas.microsoft.com/office/drawing/2014/main" id="{465487AE-B870-E0BC-D315-B9BC7665A4C3}"/>
              </a:ext>
            </a:extLst>
          </p:cNvPr>
          <p:cNvSpPr/>
          <p:nvPr/>
        </p:nvSpPr>
        <p:spPr>
          <a:xfrm>
            <a:off x="6810861" y="2223371"/>
            <a:ext cx="777240" cy="777240"/>
          </a:xfrm>
          <a:prstGeom prst="ellipse">
            <a:avLst/>
          </a:prstGeom>
          <a:solidFill>
            <a:schemeClr val="accent5">
              <a:lumMod val="60000"/>
              <a:lumOff val="40000"/>
            </a:schemeClr>
          </a:solidFill>
          <a:ln/>
        </p:spPr>
        <p:txBody>
          <a:bodyPr/>
          <a:lstStyle/>
          <a:p>
            <a:endParaRPr lang="en-IN" sz="1400">
              <a:solidFill>
                <a:schemeClr val="bg1"/>
              </a:solidFill>
            </a:endParaRPr>
          </a:p>
        </p:txBody>
      </p:sp>
      <p:pic>
        <p:nvPicPr>
          <p:cNvPr id="25" name="Image 3">
            <a:extLst>
              <a:ext uri="{FF2B5EF4-FFF2-40B4-BE49-F238E27FC236}">
                <a16:creationId xmlns:a16="http://schemas.microsoft.com/office/drawing/2014/main" id="{0FFC6CDB-9C1E-D12A-09DB-46EA3211D286}"/>
              </a:ext>
            </a:extLst>
          </p:cNvPr>
          <p:cNvPicPr>
            <a:picLocks noChangeAspect="1"/>
          </p:cNvPicPr>
          <p:nvPr/>
        </p:nvPicPr>
        <p:blipFill>
          <a:blip r:embed="rId4"/>
          <a:stretch>
            <a:fillRect/>
          </a:stretch>
        </p:blipFill>
        <p:spPr>
          <a:xfrm>
            <a:off x="6985740" y="2398250"/>
            <a:ext cx="427482" cy="427482"/>
          </a:xfrm>
          <a:prstGeom prst="rect">
            <a:avLst/>
          </a:prstGeom>
          <a:solidFill>
            <a:schemeClr val="accent5">
              <a:lumMod val="60000"/>
              <a:lumOff val="40000"/>
            </a:schemeClr>
          </a:solidFill>
        </p:spPr>
      </p:pic>
      <p:sp>
        <p:nvSpPr>
          <p:cNvPr id="26" name="Text 10">
            <a:extLst>
              <a:ext uri="{FF2B5EF4-FFF2-40B4-BE49-F238E27FC236}">
                <a16:creationId xmlns:a16="http://schemas.microsoft.com/office/drawing/2014/main" id="{FAEA24A1-A847-8509-61CD-01DAE3C64AC5}"/>
              </a:ext>
            </a:extLst>
          </p:cNvPr>
          <p:cNvSpPr/>
          <p:nvPr/>
        </p:nvSpPr>
        <p:spPr>
          <a:xfrm>
            <a:off x="6033621" y="3092051"/>
            <a:ext cx="2331720" cy="685800"/>
          </a:xfrm>
          <a:prstGeom prst="rect">
            <a:avLst/>
          </a:prstGeom>
          <a:solidFill>
            <a:schemeClr val="tx2">
              <a:lumMod val="90000"/>
              <a:lumOff val="10000"/>
            </a:schemeClr>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Maintenance</a:t>
            </a:r>
            <a:endParaRPr lang="en-US" sz="1400" dirty="0">
              <a:solidFill>
                <a:schemeClr val="bg1"/>
              </a:solidFill>
            </a:endParaRPr>
          </a:p>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Billing</a:t>
            </a:r>
            <a:endParaRPr lang="en-US" sz="1400" dirty="0">
              <a:solidFill>
                <a:schemeClr val="bg1"/>
              </a:solidFill>
            </a:endParaRPr>
          </a:p>
        </p:txBody>
      </p:sp>
      <p:sp>
        <p:nvSpPr>
          <p:cNvPr id="27" name="Shape 11">
            <a:extLst>
              <a:ext uri="{FF2B5EF4-FFF2-40B4-BE49-F238E27FC236}">
                <a16:creationId xmlns:a16="http://schemas.microsoft.com/office/drawing/2014/main" id="{4306D360-34A3-31C0-C91E-77E18D50B858}"/>
              </a:ext>
            </a:extLst>
          </p:cNvPr>
          <p:cNvSpPr/>
          <p:nvPr/>
        </p:nvSpPr>
        <p:spPr>
          <a:xfrm>
            <a:off x="8593941" y="1994771"/>
            <a:ext cx="2514600" cy="1874520"/>
          </a:xfrm>
          <a:prstGeom prst="roundRect">
            <a:avLst>
              <a:gd name="adj" fmla="val 5854"/>
            </a:avLst>
          </a:prstGeom>
          <a:solidFill>
            <a:schemeClr val="tx2">
              <a:lumMod val="90000"/>
              <a:lumOff val="10000"/>
            </a:schemeClr>
          </a:solidFill>
          <a:ln w="12700">
            <a:solidFill>
              <a:srgbClr val="3A4568"/>
            </a:solidFill>
            <a:prstDash val="solid"/>
          </a:ln>
        </p:spPr>
        <p:txBody>
          <a:bodyPr/>
          <a:lstStyle/>
          <a:p>
            <a:endParaRPr lang="en-IN" sz="1400">
              <a:solidFill>
                <a:schemeClr val="bg1"/>
              </a:solidFill>
            </a:endParaRPr>
          </a:p>
        </p:txBody>
      </p:sp>
      <p:sp>
        <p:nvSpPr>
          <p:cNvPr id="28" name="Shape 12">
            <a:extLst>
              <a:ext uri="{FF2B5EF4-FFF2-40B4-BE49-F238E27FC236}">
                <a16:creationId xmlns:a16="http://schemas.microsoft.com/office/drawing/2014/main" id="{93541E16-2576-5E69-73A5-315CCA1E418B}"/>
              </a:ext>
            </a:extLst>
          </p:cNvPr>
          <p:cNvSpPr/>
          <p:nvPr/>
        </p:nvSpPr>
        <p:spPr>
          <a:xfrm>
            <a:off x="9462621" y="2223371"/>
            <a:ext cx="777240" cy="777240"/>
          </a:xfrm>
          <a:prstGeom prst="ellipse">
            <a:avLst/>
          </a:prstGeom>
          <a:solidFill>
            <a:schemeClr val="accent2">
              <a:lumMod val="60000"/>
              <a:lumOff val="40000"/>
            </a:schemeClr>
          </a:solidFill>
          <a:ln/>
        </p:spPr>
        <p:txBody>
          <a:bodyPr/>
          <a:lstStyle/>
          <a:p>
            <a:endParaRPr lang="en-IN" sz="1400">
              <a:solidFill>
                <a:schemeClr val="bg1"/>
              </a:solidFill>
            </a:endParaRPr>
          </a:p>
        </p:txBody>
      </p:sp>
      <p:pic>
        <p:nvPicPr>
          <p:cNvPr id="29" name="Image 4">
            <a:extLst>
              <a:ext uri="{FF2B5EF4-FFF2-40B4-BE49-F238E27FC236}">
                <a16:creationId xmlns:a16="http://schemas.microsoft.com/office/drawing/2014/main" id="{BB50405E-D64B-6F2D-23CB-A74110E1DD3F}"/>
              </a:ext>
            </a:extLst>
          </p:cNvPr>
          <p:cNvPicPr>
            <a:picLocks noChangeAspect="1"/>
          </p:cNvPicPr>
          <p:nvPr/>
        </p:nvPicPr>
        <p:blipFill>
          <a:blip r:embed="rId5"/>
          <a:stretch>
            <a:fillRect/>
          </a:stretch>
        </p:blipFill>
        <p:spPr>
          <a:xfrm>
            <a:off x="9637500" y="2398250"/>
            <a:ext cx="427482" cy="427482"/>
          </a:xfrm>
          <a:prstGeom prst="rect">
            <a:avLst/>
          </a:prstGeom>
          <a:solidFill>
            <a:schemeClr val="accent2">
              <a:lumMod val="60000"/>
              <a:lumOff val="40000"/>
            </a:schemeClr>
          </a:solidFill>
        </p:spPr>
      </p:pic>
      <p:sp>
        <p:nvSpPr>
          <p:cNvPr id="30" name="Text 13">
            <a:extLst>
              <a:ext uri="{FF2B5EF4-FFF2-40B4-BE49-F238E27FC236}">
                <a16:creationId xmlns:a16="http://schemas.microsoft.com/office/drawing/2014/main" id="{04B0536D-74F0-3521-6BD2-B85FA8F51D14}"/>
              </a:ext>
            </a:extLst>
          </p:cNvPr>
          <p:cNvSpPr/>
          <p:nvPr/>
        </p:nvSpPr>
        <p:spPr>
          <a:xfrm>
            <a:off x="8685381" y="3092051"/>
            <a:ext cx="2331720" cy="685800"/>
          </a:xfrm>
          <a:prstGeom prst="rect">
            <a:avLst/>
          </a:prstGeom>
          <a:solidFill>
            <a:schemeClr val="tx2">
              <a:lumMod val="90000"/>
              <a:lumOff val="10000"/>
            </a:schemeClr>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Complaint</a:t>
            </a:r>
            <a:endParaRPr lang="en-US" sz="1400" dirty="0">
              <a:solidFill>
                <a:schemeClr val="bg1"/>
              </a:solidFill>
            </a:endParaRPr>
          </a:p>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Management</a:t>
            </a:r>
            <a:endParaRPr lang="en-US" sz="1400" dirty="0">
              <a:solidFill>
                <a:schemeClr val="bg1"/>
              </a:solidFill>
            </a:endParaRPr>
          </a:p>
        </p:txBody>
      </p:sp>
      <p:sp>
        <p:nvSpPr>
          <p:cNvPr id="31" name="Shape 14">
            <a:extLst>
              <a:ext uri="{FF2B5EF4-FFF2-40B4-BE49-F238E27FC236}">
                <a16:creationId xmlns:a16="http://schemas.microsoft.com/office/drawing/2014/main" id="{B117EA6E-0DED-0D16-6031-1FD88FDD54C4}"/>
              </a:ext>
            </a:extLst>
          </p:cNvPr>
          <p:cNvSpPr/>
          <p:nvPr/>
        </p:nvSpPr>
        <p:spPr>
          <a:xfrm>
            <a:off x="638661" y="4097891"/>
            <a:ext cx="2514600" cy="1874520"/>
          </a:xfrm>
          <a:prstGeom prst="roundRect">
            <a:avLst>
              <a:gd name="adj" fmla="val 5854"/>
            </a:avLst>
          </a:prstGeom>
          <a:solidFill>
            <a:schemeClr val="tx2">
              <a:lumMod val="90000"/>
              <a:lumOff val="10000"/>
            </a:schemeClr>
          </a:solidFill>
          <a:ln w="12700">
            <a:solidFill>
              <a:srgbClr val="3A4568"/>
            </a:solidFill>
            <a:prstDash val="solid"/>
          </a:ln>
        </p:spPr>
        <p:txBody>
          <a:bodyPr/>
          <a:lstStyle/>
          <a:p>
            <a:endParaRPr lang="en-IN" sz="1400">
              <a:solidFill>
                <a:schemeClr val="bg1"/>
              </a:solidFill>
            </a:endParaRPr>
          </a:p>
        </p:txBody>
      </p:sp>
      <p:sp>
        <p:nvSpPr>
          <p:cNvPr id="32" name="Shape 15">
            <a:extLst>
              <a:ext uri="{FF2B5EF4-FFF2-40B4-BE49-F238E27FC236}">
                <a16:creationId xmlns:a16="http://schemas.microsoft.com/office/drawing/2014/main" id="{84F26B3A-7D4F-14C7-B5EE-C3A38D3126EA}"/>
              </a:ext>
            </a:extLst>
          </p:cNvPr>
          <p:cNvSpPr/>
          <p:nvPr/>
        </p:nvSpPr>
        <p:spPr>
          <a:xfrm>
            <a:off x="1507341" y="4326491"/>
            <a:ext cx="777240" cy="777240"/>
          </a:xfrm>
          <a:prstGeom prst="ellipse">
            <a:avLst/>
          </a:prstGeom>
          <a:solidFill>
            <a:schemeClr val="tx2">
              <a:lumMod val="50000"/>
              <a:lumOff val="50000"/>
            </a:schemeClr>
          </a:solidFill>
          <a:ln/>
        </p:spPr>
        <p:txBody>
          <a:bodyPr/>
          <a:lstStyle/>
          <a:p>
            <a:endParaRPr lang="en-IN" sz="1400">
              <a:solidFill>
                <a:schemeClr val="bg1"/>
              </a:solidFill>
            </a:endParaRPr>
          </a:p>
        </p:txBody>
      </p:sp>
      <p:pic>
        <p:nvPicPr>
          <p:cNvPr id="33" name="Image 5">
            <a:extLst>
              <a:ext uri="{FF2B5EF4-FFF2-40B4-BE49-F238E27FC236}">
                <a16:creationId xmlns:a16="http://schemas.microsoft.com/office/drawing/2014/main" id="{97325C50-50DD-4D80-2149-A06105F985E4}"/>
              </a:ext>
            </a:extLst>
          </p:cNvPr>
          <p:cNvPicPr>
            <a:picLocks noChangeAspect="1"/>
          </p:cNvPicPr>
          <p:nvPr/>
        </p:nvPicPr>
        <p:blipFill>
          <a:blip r:embed="rId6"/>
          <a:stretch>
            <a:fillRect/>
          </a:stretch>
        </p:blipFill>
        <p:spPr>
          <a:xfrm>
            <a:off x="1682220" y="4486964"/>
            <a:ext cx="427482" cy="427482"/>
          </a:xfrm>
          <a:prstGeom prst="rect">
            <a:avLst/>
          </a:prstGeom>
          <a:solidFill>
            <a:schemeClr val="tx2">
              <a:lumMod val="50000"/>
              <a:lumOff val="50000"/>
            </a:schemeClr>
          </a:solidFill>
        </p:spPr>
      </p:pic>
      <p:sp>
        <p:nvSpPr>
          <p:cNvPr id="34" name="Text 16">
            <a:extLst>
              <a:ext uri="{FF2B5EF4-FFF2-40B4-BE49-F238E27FC236}">
                <a16:creationId xmlns:a16="http://schemas.microsoft.com/office/drawing/2014/main" id="{7E216244-B31A-57D8-0258-2F469D88615C}"/>
              </a:ext>
            </a:extLst>
          </p:cNvPr>
          <p:cNvSpPr/>
          <p:nvPr/>
        </p:nvSpPr>
        <p:spPr>
          <a:xfrm>
            <a:off x="730101" y="5195171"/>
            <a:ext cx="2331720" cy="685800"/>
          </a:xfrm>
          <a:prstGeom prst="rect">
            <a:avLst/>
          </a:prstGeom>
          <a:solidFill>
            <a:schemeClr val="tx2">
              <a:lumMod val="90000"/>
              <a:lumOff val="10000"/>
            </a:schemeClr>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Visitor / Gate</a:t>
            </a:r>
            <a:endParaRPr lang="en-US" sz="1400" dirty="0">
              <a:solidFill>
                <a:schemeClr val="bg1"/>
              </a:solidFill>
            </a:endParaRPr>
          </a:p>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Management</a:t>
            </a:r>
            <a:endParaRPr lang="en-US" sz="1400" dirty="0">
              <a:solidFill>
                <a:schemeClr val="bg1"/>
              </a:solidFill>
            </a:endParaRPr>
          </a:p>
        </p:txBody>
      </p:sp>
      <p:sp>
        <p:nvSpPr>
          <p:cNvPr id="35" name="Shape 17">
            <a:extLst>
              <a:ext uri="{FF2B5EF4-FFF2-40B4-BE49-F238E27FC236}">
                <a16:creationId xmlns:a16="http://schemas.microsoft.com/office/drawing/2014/main" id="{4C943CCE-C70B-4536-FFE5-8E4DE6D1575B}"/>
              </a:ext>
            </a:extLst>
          </p:cNvPr>
          <p:cNvSpPr/>
          <p:nvPr/>
        </p:nvSpPr>
        <p:spPr>
          <a:xfrm>
            <a:off x="3290421" y="4097891"/>
            <a:ext cx="2514600" cy="1874520"/>
          </a:xfrm>
          <a:prstGeom prst="roundRect">
            <a:avLst>
              <a:gd name="adj" fmla="val 5854"/>
            </a:avLst>
          </a:prstGeom>
          <a:solidFill>
            <a:schemeClr val="tx2">
              <a:lumMod val="90000"/>
              <a:lumOff val="10000"/>
            </a:schemeClr>
          </a:solidFill>
          <a:ln w="12700">
            <a:solidFill>
              <a:srgbClr val="3A4568"/>
            </a:solidFill>
            <a:prstDash val="solid"/>
          </a:ln>
        </p:spPr>
        <p:txBody>
          <a:bodyPr/>
          <a:lstStyle/>
          <a:p>
            <a:endParaRPr lang="en-IN" sz="1400">
              <a:solidFill>
                <a:schemeClr val="bg1"/>
              </a:solidFill>
            </a:endParaRPr>
          </a:p>
        </p:txBody>
      </p:sp>
      <p:sp>
        <p:nvSpPr>
          <p:cNvPr id="36" name="Shape 18">
            <a:extLst>
              <a:ext uri="{FF2B5EF4-FFF2-40B4-BE49-F238E27FC236}">
                <a16:creationId xmlns:a16="http://schemas.microsoft.com/office/drawing/2014/main" id="{0A9B5B4E-AF2F-66FA-ADBF-A66D5EB11E31}"/>
              </a:ext>
            </a:extLst>
          </p:cNvPr>
          <p:cNvSpPr/>
          <p:nvPr/>
        </p:nvSpPr>
        <p:spPr>
          <a:xfrm>
            <a:off x="4159101" y="4326491"/>
            <a:ext cx="777240" cy="777240"/>
          </a:xfrm>
          <a:prstGeom prst="ellipse">
            <a:avLst/>
          </a:prstGeom>
          <a:solidFill>
            <a:srgbClr val="EC1485"/>
          </a:solidFill>
          <a:ln/>
        </p:spPr>
        <p:txBody>
          <a:bodyPr/>
          <a:lstStyle/>
          <a:p>
            <a:endParaRPr lang="en-IN" sz="1400">
              <a:solidFill>
                <a:schemeClr val="bg1"/>
              </a:solidFill>
            </a:endParaRPr>
          </a:p>
        </p:txBody>
      </p:sp>
      <p:pic>
        <p:nvPicPr>
          <p:cNvPr id="37" name="Image 6">
            <a:extLst>
              <a:ext uri="{FF2B5EF4-FFF2-40B4-BE49-F238E27FC236}">
                <a16:creationId xmlns:a16="http://schemas.microsoft.com/office/drawing/2014/main" id="{250F2234-C204-4435-4AD8-A06AA44A50CA}"/>
              </a:ext>
            </a:extLst>
          </p:cNvPr>
          <p:cNvPicPr>
            <a:picLocks noChangeAspect="1"/>
          </p:cNvPicPr>
          <p:nvPr/>
        </p:nvPicPr>
        <p:blipFill>
          <a:blip r:embed="rId7"/>
          <a:stretch>
            <a:fillRect/>
          </a:stretch>
        </p:blipFill>
        <p:spPr>
          <a:xfrm>
            <a:off x="4333980" y="4501370"/>
            <a:ext cx="427482" cy="427482"/>
          </a:xfrm>
          <a:prstGeom prst="rect">
            <a:avLst/>
          </a:prstGeom>
          <a:solidFill>
            <a:srgbClr val="EC1485"/>
          </a:solidFill>
        </p:spPr>
      </p:pic>
      <p:sp>
        <p:nvSpPr>
          <p:cNvPr id="38" name="Text 19">
            <a:extLst>
              <a:ext uri="{FF2B5EF4-FFF2-40B4-BE49-F238E27FC236}">
                <a16:creationId xmlns:a16="http://schemas.microsoft.com/office/drawing/2014/main" id="{9FBB1F4A-7EC4-ADEC-E9C0-A2BCBAEF96F3}"/>
              </a:ext>
            </a:extLst>
          </p:cNvPr>
          <p:cNvSpPr/>
          <p:nvPr/>
        </p:nvSpPr>
        <p:spPr>
          <a:xfrm>
            <a:off x="3381861" y="5195171"/>
            <a:ext cx="2331720" cy="685800"/>
          </a:xfrm>
          <a:prstGeom prst="rect">
            <a:avLst/>
          </a:prstGeom>
          <a:solidFill>
            <a:schemeClr val="tx2">
              <a:lumMod val="90000"/>
              <a:lumOff val="10000"/>
            </a:schemeClr>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Notice</a:t>
            </a:r>
            <a:endParaRPr lang="en-US" sz="1400" dirty="0">
              <a:solidFill>
                <a:schemeClr val="bg1"/>
              </a:solidFill>
            </a:endParaRPr>
          </a:p>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Board</a:t>
            </a:r>
            <a:endParaRPr lang="en-US" sz="1400" dirty="0">
              <a:solidFill>
                <a:schemeClr val="bg1"/>
              </a:solidFill>
            </a:endParaRPr>
          </a:p>
        </p:txBody>
      </p:sp>
      <p:sp>
        <p:nvSpPr>
          <p:cNvPr id="39" name="Shape 20">
            <a:extLst>
              <a:ext uri="{FF2B5EF4-FFF2-40B4-BE49-F238E27FC236}">
                <a16:creationId xmlns:a16="http://schemas.microsoft.com/office/drawing/2014/main" id="{EAB519ED-19B0-599A-2EFF-358218345582}"/>
              </a:ext>
            </a:extLst>
          </p:cNvPr>
          <p:cNvSpPr/>
          <p:nvPr/>
        </p:nvSpPr>
        <p:spPr>
          <a:xfrm>
            <a:off x="5942181" y="4097891"/>
            <a:ext cx="2514600" cy="1874520"/>
          </a:xfrm>
          <a:prstGeom prst="roundRect">
            <a:avLst>
              <a:gd name="adj" fmla="val 5854"/>
            </a:avLst>
          </a:prstGeom>
          <a:solidFill>
            <a:schemeClr val="tx2">
              <a:lumMod val="90000"/>
              <a:lumOff val="10000"/>
            </a:schemeClr>
          </a:solidFill>
          <a:ln w="12700">
            <a:solidFill>
              <a:srgbClr val="3A4568"/>
            </a:solidFill>
            <a:prstDash val="solid"/>
          </a:ln>
        </p:spPr>
        <p:txBody>
          <a:bodyPr/>
          <a:lstStyle/>
          <a:p>
            <a:endParaRPr lang="en-IN" sz="1400">
              <a:solidFill>
                <a:schemeClr val="bg1"/>
              </a:solidFill>
            </a:endParaRPr>
          </a:p>
        </p:txBody>
      </p:sp>
      <p:sp>
        <p:nvSpPr>
          <p:cNvPr id="40" name="Shape 21">
            <a:extLst>
              <a:ext uri="{FF2B5EF4-FFF2-40B4-BE49-F238E27FC236}">
                <a16:creationId xmlns:a16="http://schemas.microsoft.com/office/drawing/2014/main" id="{A275B1DD-3D40-8E40-D830-F24AE1715FE8}"/>
              </a:ext>
            </a:extLst>
          </p:cNvPr>
          <p:cNvSpPr/>
          <p:nvPr/>
        </p:nvSpPr>
        <p:spPr>
          <a:xfrm>
            <a:off x="6810861" y="4326491"/>
            <a:ext cx="777240" cy="777240"/>
          </a:xfrm>
          <a:prstGeom prst="ellipse">
            <a:avLst/>
          </a:prstGeom>
          <a:solidFill>
            <a:schemeClr val="bg2">
              <a:lumMod val="50000"/>
            </a:schemeClr>
          </a:solidFill>
          <a:ln/>
        </p:spPr>
        <p:txBody>
          <a:bodyPr/>
          <a:lstStyle/>
          <a:p>
            <a:endParaRPr lang="en-IN" sz="1400">
              <a:solidFill>
                <a:schemeClr val="bg1"/>
              </a:solidFill>
            </a:endParaRPr>
          </a:p>
        </p:txBody>
      </p:sp>
      <p:pic>
        <p:nvPicPr>
          <p:cNvPr id="41" name="Image 7">
            <a:extLst>
              <a:ext uri="{FF2B5EF4-FFF2-40B4-BE49-F238E27FC236}">
                <a16:creationId xmlns:a16="http://schemas.microsoft.com/office/drawing/2014/main" id="{264556A1-745C-2AF5-43D1-C14C0FED8AF5}"/>
              </a:ext>
            </a:extLst>
          </p:cNvPr>
          <p:cNvPicPr>
            <a:picLocks noChangeAspect="1"/>
          </p:cNvPicPr>
          <p:nvPr/>
        </p:nvPicPr>
        <p:blipFill>
          <a:blip r:embed="rId8"/>
          <a:stretch>
            <a:fillRect/>
          </a:stretch>
        </p:blipFill>
        <p:spPr>
          <a:xfrm>
            <a:off x="6985740" y="4501370"/>
            <a:ext cx="427482" cy="427482"/>
          </a:xfrm>
          <a:prstGeom prst="rect">
            <a:avLst/>
          </a:prstGeom>
          <a:solidFill>
            <a:schemeClr val="bg2">
              <a:lumMod val="50000"/>
            </a:schemeClr>
          </a:solidFill>
        </p:spPr>
      </p:pic>
      <p:sp>
        <p:nvSpPr>
          <p:cNvPr id="42" name="Text 22">
            <a:extLst>
              <a:ext uri="{FF2B5EF4-FFF2-40B4-BE49-F238E27FC236}">
                <a16:creationId xmlns:a16="http://schemas.microsoft.com/office/drawing/2014/main" id="{6FD73F98-2B0C-E4DF-16DF-383E1A050227}"/>
              </a:ext>
            </a:extLst>
          </p:cNvPr>
          <p:cNvSpPr/>
          <p:nvPr/>
        </p:nvSpPr>
        <p:spPr>
          <a:xfrm>
            <a:off x="6033621" y="5195171"/>
            <a:ext cx="2331720" cy="685800"/>
          </a:xfrm>
          <a:prstGeom prst="rect">
            <a:avLst/>
          </a:prstGeom>
          <a:solidFill>
            <a:schemeClr val="tx2">
              <a:lumMod val="90000"/>
              <a:lumOff val="10000"/>
            </a:schemeClr>
          </a:solid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Amenity</a:t>
            </a:r>
            <a:endParaRPr lang="en-US" sz="1400" dirty="0">
              <a:solidFill>
                <a:schemeClr val="bg1"/>
              </a:solidFill>
            </a:endParaRPr>
          </a:p>
          <a:p>
            <a:pPr marL="0" indent="0" algn="ctr">
              <a:lnSpc>
                <a:spcPct val="110000"/>
              </a:lnSpc>
              <a:buNone/>
            </a:pPr>
            <a:r>
              <a:rPr lang="en-US" sz="1400" b="1" dirty="0">
                <a:solidFill>
                  <a:schemeClr val="bg1"/>
                </a:solidFill>
                <a:latin typeface="Calibri" pitchFamily="34" charset="0"/>
                <a:ea typeface="Calibri" pitchFamily="34" charset="-122"/>
                <a:cs typeface="Calibri" pitchFamily="34" charset="-120"/>
              </a:rPr>
              <a:t>Booking</a:t>
            </a:r>
            <a:endParaRPr lang="en-US" sz="1400" dirty="0">
              <a:solidFill>
                <a:schemeClr val="bg1"/>
              </a:solidFill>
            </a:endParaRPr>
          </a:p>
        </p:txBody>
      </p:sp>
    </p:spTree>
    <p:extLst>
      <p:ext uri="{BB962C8B-B14F-4D97-AF65-F5344CB8AC3E}">
        <p14:creationId xmlns:p14="http://schemas.microsoft.com/office/powerpoint/2010/main" val="166408449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333B31-769C-6F2E-1F36-0B7612281006}"/>
              </a:ext>
            </a:extLst>
          </p:cNvPr>
          <p:cNvSpPr txBox="1"/>
          <p:nvPr/>
        </p:nvSpPr>
        <p:spPr>
          <a:xfrm>
            <a:off x="658761" y="678426"/>
            <a:ext cx="10825316" cy="4524315"/>
          </a:xfrm>
          <a:prstGeom prst="rect">
            <a:avLst/>
          </a:prstGeom>
          <a:noFill/>
        </p:spPr>
        <p:txBody>
          <a:bodyPr wrap="square" rtlCol="0">
            <a:spAutoFit/>
          </a:bodyPr>
          <a:lstStyle/>
          <a:p>
            <a:r>
              <a:rPr lang="en-US" sz="4000" b="1" u="sng" dirty="0">
                <a:latin typeface="Calisto MT" panose="02040603050505030304" pitchFamily="18" charset="0"/>
              </a:rPr>
              <a:t>References:</a:t>
            </a:r>
          </a:p>
          <a:p>
            <a:endParaRPr lang="en-US" sz="4000" b="1" u="sng" dirty="0">
              <a:latin typeface="Calisto MT" panose="02040603050505030304" pitchFamily="18" charset="0"/>
            </a:endParaRPr>
          </a:p>
          <a:p>
            <a:r>
              <a:rPr lang="en-US" sz="2800" b="1" dirty="0">
                <a:latin typeface="Sitka Subheading Semibold" pitchFamily="2" charset="0"/>
                <a:ea typeface="Arial" pitchFamily="34" charset="-122"/>
                <a:cs typeface="Arial" pitchFamily="34" charset="-120"/>
              </a:rPr>
              <a:t>Similar Real-World Apps: </a:t>
            </a:r>
          </a:p>
          <a:p>
            <a:endParaRPr lang="en-US" sz="2800" b="1" dirty="0">
              <a:latin typeface="Sitka Subheading Semibold" pitchFamily="2" charset="0"/>
              <a:ea typeface="Arial" pitchFamily="34" charset="-122"/>
              <a:cs typeface="Arial" pitchFamily="34" charset="-120"/>
            </a:endParaRPr>
          </a:p>
          <a:p>
            <a:pPr marL="342900" indent="-342900">
              <a:buFont typeface="Wingdings" panose="05000000000000000000" pitchFamily="2" charset="2"/>
              <a:buChar char="§"/>
            </a:pPr>
            <a:r>
              <a:rPr lang="en-US" sz="2400" b="1" dirty="0">
                <a:latin typeface="Sitka Subheading Semibold" pitchFamily="2" charset="0"/>
                <a:cs typeface="Arial" pitchFamily="34" charset="-120"/>
              </a:rPr>
              <a:t>MyGate</a:t>
            </a:r>
          </a:p>
          <a:p>
            <a:pPr marL="342900" indent="-342900">
              <a:buFont typeface="Wingdings" panose="05000000000000000000" pitchFamily="2" charset="2"/>
              <a:buChar char="§"/>
            </a:pPr>
            <a:r>
              <a:rPr lang="en-US" sz="2400" dirty="0">
                <a:latin typeface="Sitka Subheading Semibold" pitchFamily="2" charset="0"/>
              </a:rPr>
              <a:t>NoBrokeHood </a:t>
            </a:r>
          </a:p>
          <a:p>
            <a:pPr marL="342900" indent="-342900">
              <a:buFont typeface="Wingdings" panose="05000000000000000000" pitchFamily="2" charset="2"/>
              <a:buChar char="§"/>
            </a:pPr>
            <a:r>
              <a:rPr lang="en-US" sz="2400" dirty="0">
                <a:latin typeface="Sitka Subheading Semibold" pitchFamily="2" charset="0"/>
              </a:rPr>
              <a:t>ADDA </a:t>
            </a:r>
            <a:r>
              <a:rPr lang="en-US" sz="2400" dirty="0">
                <a:solidFill>
                  <a:srgbClr val="FFFFFF"/>
                </a:solidFill>
                <a:latin typeface="Sitka Subheading Semibold" pitchFamily="2" charset="0"/>
                <a:ea typeface="Calibri" pitchFamily="34" charset="-122"/>
                <a:cs typeface="Calibri" pitchFamily="34" charset="-120"/>
              </a:rPr>
              <a:t>erHood</a:t>
            </a:r>
            <a:endParaRPr lang="en-US" sz="2400" dirty="0">
              <a:latin typeface="Sitka Subheading Semibold" pitchFamily="2" charset="0"/>
            </a:endParaRPr>
          </a:p>
          <a:p>
            <a:r>
              <a:rPr lang="en-US" sz="2000" dirty="0">
                <a:solidFill>
                  <a:srgbClr val="FFFFFF"/>
                </a:solidFill>
                <a:latin typeface="Calibri" pitchFamily="34" charset="0"/>
                <a:ea typeface="Calibri" pitchFamily="34" charset="-122"/>
                <a:cs typeface="Calibri" pitchFamily="34" charset="-120"/>
              </a:rPr>
              <a:t>NoBrokerHood</a:t>
            </a:r>
            <a:endParaRPr lang="en-US" sz="2000" dirty="0"/>
          </a:p>
          <a:p>
            <a:endParaRPr lang="en-US" sz="2000" dirty="0">
              <a:latin typeface="Sitka Subheading Semibold" pitchFamily="2" charset="0"/>
            </a:endParaRP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428279474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05256E-035C-45EA-C19D-C6BFC4E94FC8}"/>
              </a:ext>
            </a:extLst>
          </p:cNvPr>
          <p:cNvSpPr txBox="1"/>
          <p:nvPr/>
        </p:nvSpPr>
        <p:spPr>
          <a:xfrm>
            <a:off x="609600" y="690880"/>
            <a:ext cx="10901680" cy="1323439"/>
          </a:xfrm>
          <a:prstGeom prst="rect">
            <a:avLst/>
          </a:prstGeom>
          <a:noFill/>
        </p:spPr>
        <p:txBody>
          <a:bodyPr wrap="square" rtlCol="0">
            <a:spAutoFit/>
          </a:bodyPr>
          <a:lstStyle/>
          <a:p>
            <a:r>
              <a:rPr lang="en-US" sz="4000" b="1" u="sng" dirty="0">
                <a:latin typeface="Calisto MT" panose="02040603050505030304" pitchFamily="18" charset="0"/>
              </a:rPr>
              <a:t>Front end technology:</a:t>
            </a:r>
          </a:p>
          <a:p>
            <a:endParaRPr lang="en-IN" sz="4000" b="1" u="sng" dirty="0">
              <a:latin typeface="Calisto MT" panose="02040603050505030304" pitchFamily="18" charset="0"/>
            </a:endParaRPr>
          </a:p>
        </p:txBody>
      </p:sp>
      <p:sp>
        <p:nvSpPr>
          <p:cNvPr id="3" name="Shape 2">
            <a:extLst>
              <a:ext uri="{FF2B5EF4-FFF2-40B4-BE49-F238E27FC236}">
                <a16:creationId xmlns:a16="http://schemas.microsoft.com/office/drawing/2014/main" id="{5A802A19-80D5-23A3-61C0-18A9C10F1B01}"/>
              </a:ext>
            </a:extLst>
          </p:cNvPr>
          <p:cNvSpPr/>
          <p:nvPr/>
        </p:nvSpPr>
        <p:spPr>
          <a:xfrm>
            <a:off x="746760" y="1920240"/>
            <a:ext cx="10698480" cy="1920240"/>
          </a:xfrm>
          <a:prstGeom prst="roundRect">
            <a:avLst>
              <a:gd name="adj" fmla="val 5714"/>
            </a:avLst>
          </a:prstGeom>
          <a:solidFill>
            <a:srgbClr val="FFFFFF"/>
          </a:solidFill>
          <a:ln w="12700">
            <a:solidFill>
              <a:srgbClr val="E3E7EF"/>
            </a:solidFill>
            <a:prstDash val="solid"/>
          </a:ln>
          <a:effectLst>
            <a:outerShdw blurRad="76200" dist="25400" dir="5400000" algn="bl" rotWithShape="0">
              <a:srgbClr val="9AA3B5">
                <a:alpha val="20000"/>
              </a:srgbClr>
            </a:outerShdw>
          </a:effectLst>
        </p:spPr>
        <p:txBody>
          <a:bodyPr/>
          <a:lstStyle/>
          <a:p>
            <a:endParaRPr lang="en-IN">
              <a:solidFill>
                <a:schemeClr val="tx1">
                  <a:lumMod val="85000"/>
                  <a:lumOff val="15000"/>
                </a:schemeClr>
              </a:solidFill>
            </a:endParaRPr>
          </a:p>
        </p:txBody>
      </p:sp>
      <p:sp>
        <p:nvSpPr>
          <p:cNvPr id="4" name="Text 3">
            <a:extLst>
              <a:ext uri="{FF2B5EF4-FFF2-40B4-BE49-F238E27FC236}">
                <a16:creationId xmlns:a16="http://schemas.microsoft.com/office/drawing/2014/main" id="{09F7E043-113B-CDE0-59B0-19FEC44F8E48}"/>
              </a:ext>
            </a:extLst>
          </p:cNvPr>
          <p:cNvSpPr/>
          <p:nvPr/>
        </p:nvSpPr>
        <p:spPr>
          <a:xfrm>
            <a:off x="1203960" y="2014319"/>
            <a:ext cx="9669780" cy="1734721"/>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dirty="0">
                <a:solidFill>
                  <a:schemeClr val="tx1">
                    <a:lumMod val="85000"/>
                    <a:lumOff val="15000"/>
                  </a:schemeClr>
                </a:solidFill>
                <a:latin typeface="Arial" pitchFamily="34" charset="0"/>
                <a:ea typeface="Arial" pitchFamily="34" charset="-122"/>
                <a:cs typeface="Arial" pitchFamily="34" charset="-120"/>
              </a:rPr>
              <a:t>HTML  •  CSS  •  JavaScript  •  Bootstrap</a:t>
            </a:r>
            <a:endParaRPr lang="en-US" sz="2200" dirty="0">
              <a:solidFill>
                <a:schemeClr val="tx1">
                  <a:lumMod val="85000"/>
                  <a:lumOff val="15000"/>
                </a:schemeClr>
              </a:solidFill>
            </a:endParaRPr>
          </a:p>
        </p:txBody>
      </p:sp>
      <p:sp>
        <p:nvSpPr>
          <p:cNvPr id="5" name="Text 4">
            <a:extLst>
              <a:ext uri="{FF2B5EF4-FFF2-40B4-BE49-F238E27FC236}">
                <a16:creationId xmlns:a16="http://schemas.microsoft.com/office/drawing/2014/main" id="{28DB7862-2DFD-9F46-A376-07038030E547}"/>
              </a:ext>
            </a:extLst>
          </p:cNvPr>
          <p:cNvSpPr/>
          <p:nvPr/>
        </p:nvSpPr>
        <p:spPr>
          <a:xfrm>
            <a:off x="1478280" y="2926080"/>
            <a:ext cx="9235440" cy="8229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30000"/>
              </a:lnSpc>
              <a:buNone/>
            </a:pPr>
            <a:endParaRPr lang="en-US" sz="1450" dirty="0">
              <a:solidFill>
                <a:schemeClr val="tx1">
                  <a:lumMod val="85000"/>
                  <a:lumOff val="15000"/>
                </a:schemeClr>
              </a:solidFill>
            </a:endParaRPr>
          </a:p>
        </p:txBody>
      </p:sp>
      <p:sp>
        <p:nvSpPr>
          <p:cNvPr id="6" name="Shape 5">
            <a:extLst>
              <a:ext uri="{FF2B5EF4-FFF2-40B4-BE49-F238E27FC236}">
                <a16:creationId xmlns:a16="http://schemas.microsoft.com/office/drawing/2014/main" id="{9468C46B-6592-0D45-1CAA-86209A5A5C0C}"/>
              </a:ext>
            </a:extLst>
          </p:cNvPr>
          <p:cNvSpPr/>
          <p:nvPr/>
        </p:nvSpPr>
        <p:spPr>
          <a:xfrm>
            <a:off x="3124200" y="4297680"/>
            <a:ext cx="5943600" cy="640080"/>
          </a:xfrm>
          <a:prstGeom prst="roundRect">
            <a:avLst>
              <a:gd name="adj" fmla="val 14286"/>
            </a:avLst>
          </a:prstGeom>
          <a:solidFill>
            <a:schemeClr val="bg2">
              <a:lumMod val="90000"/>
            </a:schemeClr>
          </a:solidFill>
          <a:ln/>
        </p:spPr>
        <p:txBody>
          <a:bodyPr/>
          <a:lstStyle/>
          <a:p>
            <a:endParaRPr lang="en-IN">
              <a:solidFill>
                <a:schemeClr val="tx1">
                  <a:lumMod val="85000"/>
                  <a:lumOff val="15000"/>
                </a:schemeClr>
              </a:solidFill>
            </a:endParaRPr>
          </a:p>
        </p:txBody>
      </p:sp>
      <p:sp>
        <p:nvSpPr>
          <p:cNvPr id="7" name="Text 6">
            <a:extLst>
              <a:ext uri="{FF2B5EF4-FFF2-40B4-BE49-F238E27FC236}">
                <a16:creationId xmlns:a16="http://schemas.microsoft.com/office/drawing/2014/main" id="{FE21761D-F9D5-81DD-42D7-E5FD919ED896}"/>
              </a:ext>
            </a:extLst>
          </p:cNvPr>
          <p:cNvSpPr/>
          <p:nvPr/>
        </p:nvSpPr>
        <p:spPr>
          <a:xfrm>
            <a:off x="3307080" y="4297680"/>
            <a:ext cx="5577840"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i="1" dirty="0">
                <a:solidFill>
                  <a:schemeClr val="tx1">
                    <a:lumMod val="85000"/>
                    <a:lumOff val="15000"/>
                  </a:schemeClr>
                </a:solidFill>
                <a:latin typeface="Calibri" pitchFamily="34" charset="0"/>
                <a:ea typeface="Calibri" pitchFamily="34" charset="-122"/>
                <a:cs typeface="Calibri" pitchFamily="34" charset="-120"/>
              </a:rPr>
              <a:t>Future scope: React Native for the mobile app version</a:t>
            </a:r>
            <a:endParaRPr lang="en-US" sz="1300" dirty="0">
              <a:solidFill>
                <a:schemeClr val="tx1">
                  <a:lumMod val="85000"/>
                  <a:lumOff val="15000"/>
                </a:schemeClr>
              </a:solidFill>
            </a:endParaRPr>
          </a:p>
        </p:txBody>
      </p:sp>
    </p:spTree>
    <p:extLst>
      <p:ext uri="{BB962C8B-B14F-4D97-AF65-F5344CB8AC3E}">
        <p14:creationId xmlns:p14="http://schemas.microsoft.com/office/powerpoint/2010/main" val="28054782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3E3A8D-7413-1401-418A-E69C5D11AD6E}"/>
              </a:ext>
            </a:extLst>
          </p:cNvPr>
          <p:cNvSpPr txBox="1"/>
          <p:nvPr/>
        </p:nvSpPr>
        <p:spPr>
          <a:xfrm>
            <a:off x="580103" y="658761"/>
            <a:ext cx="10815484" cy="1323439"/>
          </a:xfrm>
          <a:prstGeom prst="rect">
            <a:avLst/>
          </a:prstGeom>
          <a:noFill/>
        </p:spPr>
        <p:txBody>
          <a:bodyPr wrap="square" rtlCol="0">
            <a:spAutoFit/>
          </a:bodyPr>
          <a:lstStyle/>
          <a:p>
            <a:r>
              <a:rPr lang="en-US" sz="4000" b="1" u="sng" dirty="0">
                <a:latin typeface="Calisto MT" panose="02040603050505030304" pitchFamily="18" charset="0"/>
              </a:rPr>
              <a:t>Backend technology:</a:t>
            </a:r>
          </a:p>
          <a:p>
            <a:endParaRPr lang="en-IN" sz="4000" b="1" u="sng" dirty="0">
              <a:latin typeface="Calisto MT" panose="02040603050505030304" pitchFamily="18" charset="0"/>
            </a:endParaRPr>
          </a:p>
        </p:txBody>
      </p:sp>
      <p:sp>
        <p:nvSpPr>
          <p:cNvPr id="3" name="Shape 2">
            <a:extLst>
              <a:ext uri="{FF2B5EF4-FFF2-40B4-BE49-F238E27FC236}">
                <a16:creationId xmlns:a16="http://schemas.microsoft.com/office/drawing/2014/main" id="{0F874F57-13B7-AA70-7817-617F7AEC332B}"/>
              </a:ext>
            </a:extLst>
          </p:cNvPr>
          <p:cNvSpPr/>
          <p:nvPr/>
        </p:nvSpPr>
        <p:spPr>
          <a:xfrm>
            <a:off x="580103" y="1808480"/>
            <a:ext cx="10698480" cy="1920240"/>
          </a:xfrm>
          <a:prstGeom prst="roundRect">
            <a:avLst>
              <a:gd name="adj" fmla="val 5714"/>
            </a:avLst>
          </a:prstGeom>
          <a:solidFill>
            <a:schemeClr val="bg1"/>
          </a:solidFill>
          <a:ln w="12700">
            <a:solidFill>
              <a:schemeClr val="bg2">
                <a:lumMod val="50000"/>
              </a:schemeClr>
            </a:solidFill>
            <a:prstDash val="solid"/>
          </a:ln>
          <a:effectLst>
            <a:outerShdw blurRad="50800" dist="38100" dir="5400000" algn="t" rotWithShape="0">
              <a:prstClr val="black">
                <a:alpha val="40000"/>
              </a:prstClr>
            </a:outerShdw>
          </a:effectLst>
        </p:spPr>
        <p:txBody>
          <a:bodyPr/>
          <a:lstStyle/>
          <a:p>
            <a:endParaRPr lang="en-IN">
              <a:solidFill>
                <a:schemeClr val="tx1">
                  <a:lumMod val="85000"/>
                  <a:lumOff val="15000"/>
                </a:schemeClr>
              </a:solidFill>
            </a:endParaRPr>
          </a:p>
        </p:txBody>
      </p:sp>
      <p:sp>
        <p:nvSpPr>
          <p:cNvPr id="4" name="Text 3">
            <a:extLst>
              <a:ext uri="{FF2B5EF4-FFF2-40B4-BE49-F238E27FC236}">
                <a16:creationId xmlns:a16="http://schemas.microsoft.com/office/drawing/2014/main" id="{1EBEBEBE-F790-5DEB-FFF2-CFD78557E654}"/>
              </a:ext>
            </a:extLst>
          </p:cNvPr>
          <p:cNvSpPr/>
          <p:nvPr/>
        </p:nvSpPr>
        <p:spPr>
          <a:xfrm>
            <a:off x="1037303" y="2128520"/>
            <a:ext cx="9784080" cy="548640"/>
          </a:xfrm>
          <a:prstGeom prst="rect">
            <a:avLst/>
          </a:prstGeom>
          <a:solidFill>
            <a:schemeClr val="bg1"/>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dirty="0">
                <a:solidFill>
                  <a:schemeClr val="tx1">
                    <a:lumMod val="85000"/>
                    <a:lumOff val="15000"/>
                  </a:schemeClr>
                </a:solidFill>
                <a:latin typeface="Arial" pitchFamily="34" charset="0"/>
                <a:ea typeface="Arial" pitchFamily="34" charset="-122"/>
                <a:cs typeface="Arial" pitchFamily="34" charset="-120"/>
              </a:rPr>
              <a:t>Node.js  +  Express.js</a:t>
            </a:r>
            <a:endParaRPr lang="en-US" sz="2400" dirty="0">
              <a:solidFill>
                <a:schemeClr val="tx1">
                  <a:lumMod val="85000"/>
                  <a:lumOff val="15000"/>
                </a:schemeClr>
              </a:solidFill>
            </a:endParaRPr>
          </a:p>
        </p:txBody>
      </p:sp>
      <p:sp>
        <p:nvSpPr>
          <p:cNvPr id="5" name="Text 4">
            <a:extLst>
              <a:ext uri="{FF2B5EF4-FFF2-40B4-BE49-F238E27FC236}">
                <a16:creationId xmlns:a16="http://schemas.microsoft.com/office/drawing/2014/main" id="{A40BF420-650A-BD12-0E04-1AA71314139B}"/>
              </a:ext>
            </a:extLst>
          </p:cNvPr>
          <p:cNvSpPr/>
          <p:nvPr/>
        </p:nvSpPr>
        <p:spPr>
          <a:xfrm>
            <a:off x="1311623" y="2860040"/>
            <a:ext cx="9235440" cy="777240"/>
          </a:xfrm>
          <a:prstGeom prst="rect">
            <a:avLst/>
          </a:prstGeom>
          <a:solidFill>
            <a:schemeClr val="bg1"/>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30000"/>
              </a:lnSpc>
              <a:buNone/>
            </a:pPr>
            <a:r>
              <a:rPr lang="en-US" sz="1600" dirty="0">
                <a:solidFill>
                  <a:schemeClr val="tx1">
                    <a:lumMod val="85000"/>
                    <a:lumOff val="15000"/>
                  </a:schemeClr>
                </a:solidFill>
                <a:latin typeface="Sitka Subheading Semibold" pitchFamily="2" charset="0"/>
                <a:ea typeface="Calibri" pitchFamily="34" charset="-122"/>
                <a:cs typeface="Calibri" pitchFamily="34" charset="-120"/>
              </a:rPr>
              <a:t>Handles all APIs — authentication, billing, complaints, visitor logs, notices,</a:t>
            </a:r>
            <a:endParaRPr lang="en-US" sz="1600" dirty="0">
              <a:solidFill>
                <a:schemeClr val="tx1">
                  <a:lumMod val="85000"/>
                  <a:lumOff val="15000"/>
                </a:schemeClr>
              </a:solidFill>
              <a:latin typeface="Sitka Subheading Semibold" pitchFamily="2" charset="0"/>
            </a:endParaRPr>
          </a:p>
          <a:p>
            <a:pPr marL="0" indent="0" algn="ctr">
              <a:lnSpc>
                <a:spcPct val="130000"/>
              </a:lnSpc>
              <a:buNone/>
            </a:pPr>
            <a:r>
              <a:rPr lang="en-US" sz="1600" dirty="0">
                <a:solidFill>
                  <a:schemeClr val="tx1">
                    <a:lumMod val="85000"/>
                    <a:lumOff val="15000"/>
                  </a:schemeClr>
                </a:solidFill>
                <a:latin typeface="Sitka Subheading Semibold" pitchFamily="2" charset="0"/>
                <a:ea typeface="Calibri" pitchFamily="34" charset="-122"/>
                <a:cs typeface="Calibri" pitchFamily="34" charset="-120"/>
              </a:rPr>
              <a:t>and amenity booking — with role-based access for each user type.</a:t>
            </a:r>
            <a:endParaRPr lang="en-US" sz="1600" dirty="0">
              <a:solidFill>
                <a:schemeClr val="tx1">
                  <a:lumMod val="85000"/>
                  <a:lumOff val="15000"/>
                </a:schemeClr>
              </a:solidFill>
              <a:latin typeface="Sitka Subheading Semibold" pitchFamily="2" charset="0"/>
            </a:endParaRPr>
          </a:p>
        </p:txBody>
      </p:sp>
      <p:sp>
        <p:nvSpPr>
          <p:cNvPr id="6" name="TextBox 5">
            <a:extLst>
              <a:ext uri="{FF2B5EF4-FFF2-40B4-BE49-F238E27FC236}">
                <a16:creationId xmlns:a16="http://schemas.microsoft.com/office/drawing/2014/main" id="{0DE1D14E-25D3-AD3B-BB44-4EA4363DF26C}"/>
              </a:ext>
            </a:extLst>
          </p:cNvPr>
          <p:cNvSpPr txBox="1"/>
          <p:nvPr/>
        </p:nvSpPr>
        <p:spPr>
          <a:xfrm>
            <a:off x="660400" y="4329574"/>
            <a:ext cx="10618183" cy="2431435"/>
          </a:xfrm>
          <a:prstGeom prst="rect">
            <a:avLst/>
          </a:prstGeom>
          <a:noFill/>
        </p:spPr>
        <p:txBody>
          <a:bodyPr wrap="square" rtlCol="0">
            <a:spAutoFit/>
          </a:bodyPr>
          <a:lstStyle/>
          <a:p>
            <a:r>
              <a:rPr lang="en-US" sz="4000" b="1" u="sng" dirty="0">
                <a:latin typeface="Calisto MT" panose="02040603050505030304" pitchFamily="18" charset="0"/>
              </a:rPr>
              <a:t>Database:</a:t>
            </a:r>
          </a:p>
          <a:p>
            <a:endParaRPr lang="en-US" sz="4000" b="1" u="sng" dirty="0">
              <a:latin typeface="Calisto MT" panose="02040603050505030304" pitchFamily="18" charset="0"/>
            </a:endParaRPr>
          </a:p>
          <a:p>
            <a:pPr marL="457200" indent="-457200">
              <a:buFont typeface="Wingdings" panose="05000000000000000000" pitchFamily="2" charset="2"/>
              <a:buChar char="§"/>
            </a:pPr>
            <a:r>
              <a:rPr lang="en-US" sz="3200" b="1" dirty="0">
                <a:latin typeface="Sitka Subheading Semibold" pitchFamily="2" charset="0"/>
              </a:rPr>
              <a:t>MySQL</a:t>
            </a:r>
            <a:endParaRPr lang="en-IN" sz="3200" b="1" dirty="0">
              <a:latin typeface="Sitka Subheading Semibold" pitchFamily="2" charset="0"/>
            </a:endParaRP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242929029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BA0ED1-B387-04BE-512E-51A220958FA6}"/>
              </a:ext>
            </a:extLst>
          </p:cNvPr>
          <p:cNvSpPr txBox="1"/>
          <p:nvPr/>
        </p:nvSpPr>
        <p:spPr>
          <a:xfrm>
            <a:off x="650240" y="650240"/>
            <a:ext cx="10993120" cy="4370427"/>
          </a:xfrm>
          <a:prstGeom prst="rect">
            <a:avLst/>
          </a:prstGeom>
          <a:noFill/>
        </p:spPr>
        <p:txBody>
          <a:bodyPr wrap="square" rtlCol="0">
            <a:spAutoFit/>
          </a:bodyPr>
          <a:lstStyle/>
          <a:p>
            <a:r>
              <a:rPr lang="en-US" sz="4000" b="1" u="sng" dirty="0">
                <a:latin typeface="Calisto MT" panose="02040603050505030304" pitchFamily="18" charset="0"/>
              </a:rPr>
              <a:t>Tools/software used:</a:t>
            </a:r>
          </a:p>
          <a:p>
            <a:endParaRPr lang="en-US" sz="4000" b="1" u="sng" dirty="0">
              <a:latin typeface="Calisto MT" panose="02040603050505030304" pitchFamily="18" charset="0"/>
            </a:endParaRPr>
          </a:p>
          <a:p>
            <a:pPr marL="457200" indent="-457200">
              <a:buFont typeface="Wingdings" panose="05000000000000000000" pitchFamily="2" charset="2"/>
              <a:buChar char="§"/>
            </a:pPr>
            <a:r>
              <a:rPr lang="en-IN" sz="2600" dirty="0">
                <a:latin typeface="Sitka Subheading Semibold" pitchFamily="2" charset="0"/>
              </a:rPr>
              <a:t>Visual Studio Code (VS Code) </a:t>
            </a:r>
          </a:p>
          <a:p>
            <a:pPr marL="457200" indent="-457200">
              <a:buFont typeface="Wingdings" panose="05000000000000000000" pitchFamily="2" charset="2"/>
              <a:buChar char="§"/>
            </a:pPr>
            <a:r>
              <a:rPr lang="en-IN" sz="2600" dirty="0">
                <a:latin typeface="Sitka Subheading Semibold" pitchFamily="2" charset="0"/>
              </a:rPr>
              <a:t>MySQL  </a:t>
            </a:r>
          </a:p>
          <a:p>
            <a:pPr marL="457200" indent="-457200">
              <a:buFont typeface="Wingdings" panose="05000000000000000000" pitchFamily="2" charset="2"/>
              <a:buChar char="§"/>
            </a:pPr>
            <a:r>
              <a:rPr lang="en-IN" sz="2600" dirty="0">
                <a:latin typeface="Sitka Subheading Semibold" pitchFamily="2" charset="0"/>
              </a:rPr>
              <a:t>Google Chrome </a:t>
            </a:r>
          </a:p>
          <a:p>
            <a:pPr marL="457200" indent="-457200">
              <a:buFont typeface="Wingdings" panose="05000000000000000000" pitchFamily="2" charset="2"/>
              <a:buChar char="§"/>
            </a:pPr>
            <a:r>
              <a:rPr lang="en-IN" sz="2600" dirty="0">
                <a:latin typeface="Sitka Subheading Semibold" pitchFamily="2" charset="0"/>
              </a:rPr>
              <a:t>Bootstrap 5</a:t>
            </a:r>
          </a:p>
          <a:p>
            <a:pPr marL="457200" indent="-457200">
              <a:buFont typeface="Wingdings" panose="05000000000000000000" pitchFamily="2" charset="2"/>
              <a:buChar char="§"/>
            </a:pPr>
            <a:r>
              <a:rPr lang="en-US" sz="2600" b="1" dirty="0">
                <a:latin typeface="Sitka Subheading Semibold" pitchFamily="2" charset="0"/>
                <a:ea typeface="Calibri" pitchFamily="34" charset="-122"/>
                <a:cs typeface="Calibri" pitchFamily="34" charset="-120"/>
              </a:rPr>
              <a:t>GitHub</a:t>
            </a:r>
            <a:endParaRPr lang="en-US" sz="2600" dirty="0">
              <a:latin typeface="Sitka Subheading Semibold" pitchFamily="2" charset="0"/>
            </a:endParaRPr>
          </a:p>
          <a:p>
            <a:endParaRPr lang="en-IN" sz="2600" dirty="0">
              <a:latin typeface="Sitka Subheading Semibold" pitchFamily="2" charset="0"/>
            </a:endParaRPr>
          </a:p>
          <a:p>
            <a:endParaRPr lang="en-IN" sz="4000" b="1" u="sng" dirty="0">
              <a:latin typeface="Calisto MT" panose="02040603050505030304" pitchFamily="18" charset="0"/>
            </a:endParaRPr>
          </a:p>
        </p:txBody>
      </p:sp>
    </p:spTree>
    <p:extLst>
      <p:ext uri="{BB962C8B-B14F-4D97-AF65-F5344CB8AC3E}">
        <p14:creationId xmlns:p14="http://schemas.microsoft.com/office/powerpoint/2010/main" val="1361311558"/>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B0FF19-C757-891C-E8A1-3BCAE3AA5B1B}"/>
              </a:ext>
            </a:extLst>
          </p:cNvPr>
          <p:cNvSpPr txBox="1"/>
          <p:nvPr/>
        </p:nvSpPr>
        <p:spPr>
          <a:xfrm>
            <a:off x="721360" y="568960"/>
            <a:ext cx="10698480" cy="3170099"/>
          </a:xfrm>
          <a:prstGeom prst="rect">
            <a:avLst/>
          </a:prstGeom>
          <a:noFill/>
        </p:spPr>
        <p:txBody>
          <a:bodyPr wrap="square" rtlCol="0">
            <a:spAutoFit/>
          </a:bodyPr>
          <a:lstStyle/>
          <a:p>
            <a:r>
              <a:rPr lang="en-US" sz="4000" b="1" u="sng" dirty="0">
                <a:latin typeface="Calisto MT" panose="02040603050505030304" pitchFamily="18" charset="0"/>
              </a:rPr>
              <a:t>Software requirements:</a:t>
            </a:r>
          </a:p>
          <a:p>
            <a:endParaRPr lang="en-US" sz="4000" b="1" u="sng" dirty="0">
              <a:latin typeface="Calisto MT" panose="02040603050505030304" pitchFamily="18" charset="0"/>
            </a:endParaRPr>
          </a:p>
          <a:p>
            <a:endParaRPr lang="en-US" sz="4000" b="1" u="sng" dirty="0">
              <a:latin typeface="Calisto MT" panose="02040603050505030304" pitchFamily="18" charset="0"/>
            </a:endParaRPr>
          </a:p>
          <a:p>
            <a:endParaRPr lang="en-US" sz="4000" b="1" u="sng" dirty="0">
              <a:latin typeface="Calisto MT" panose="02040603050505030304" pitchFamily="18" charset="0"/>
            </a:endParaRPr>
          </a:p>
          <a:p>
            <a:endParaRPr lang="en-IN" sz="4000" b="1" u="sng" dirty="0">
              <a:latin typeface="Calisto MT" panose="02040603050505030304" pitchFamily="18" charset="0"/>
            </a:endParaRPr>
          </a:p>
        </p:txBody>
      </p:sp>
      <p:sp>
        <p:nvSpPr>
          <p:cNvPr id="3" name="Shape 2">
            <a:extLst>
              <a:ext uri="{FF2B5EF4-FFF2-40B4-BE49-F238E27FC236}">
                <a16:creationId xmlns:a16="http://schemas.microsoft.com/office/drawing/2014/main" id="{39C5B852-6E99-D38F-2387-A6E27552B1AB}"/>
              </a:ext>
            </a:extLst>
          </p:cNvPr>
          <p:cNvSpPr/>
          <p:nvPr/>
        </p:nvSpPr>
        <p:spPr>
          <a:xfrm>
            <a:off x="772160" y="1812675"/>
            <a:ext cx="10698480" cy="713232"/>
          </a:xfrm>
          <a:prstGeom prst="roundRect">
            <a:avLst>
              <a:gd name="adj" fmla="val 15385"/>
            </a:avLst>
          </a:prstGeom>
          <a:solidFill>
            <a:schemeClr val="tx2">
              <a:lumMod val="90000"/>
              <a:lumOff val="10000"/>
            </a:schemeClr>
          </a:solidFill>
          <a:ln w="12700">
            <a:solidFill>
              <a:srgbClr val="3A4568"/>
            </a:solidFill>
            <a:prstDash val="solid"/>
          </a:ln>
        </p:spPr>
        <p:txBody>
          <a:bodyPr/>
          <a:lstStyle/>
          <a:p>
            <a:endParaRPr lang="en-IN" sz="1600">
              <a:solidFill>
                <a:schemeClr val="bg1"/>
              </a:solidFill>
            </a:endParaRPr>
          </a:p>
        </p:txBody>
      </p:sp>
      <p:sp>
        <p:nvSpPr>
          <p:cNvPr id="4" name="Text 3">
            <a:extLst>
              <a:ext uri="{FF2B5EF4-FFF2-40B4-BE49-F238E27FC236}">
                <a16:creationId xmlns:a16="http://schemas.microsoft.com/office/drawing/2014/main" id="{0798D09B-0ADF-780A-9E94-20578A055EC5}"/>
              </a:ext>
            </a:extLst>
          </p:cNvPr>
          <p:cNvSpPr/>
          <p:nvPr/>
        </p:nvSpPr>
        <p:spPr>
          <a:xfrm>
            <a:off x="1046480" y="1812675"/>
            <a:ext cx="292608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chemeClr val="bg1"/>
                </a:solidFill>
                <a:latin typeface="Calibri" pitchFamily="34" charset="0"/>
                <a:ea typeface="Calibri" pitchFamily="34" charset="-122"/>
                <a:cs typeface="Calibri" pitchFamily="34" charset="-120"/>
              </a:rPr>
              <a:t>Operating System</a:t>
            </a:r>
            <a:endParaRPr lang="en-US" sz="1600" dirty="0">
              <a:solidFill>
                <a:schemeClr val="bg1"/>
              </a:solidFill>
            </a:endParaRPr>
          </a:p>
        </p:txBody>
      </p:sp>
      <p:sp>
        <p:nvSpPr>
          <p:cNvPr id="5" name="Text 4">
            <a:extLst>
              <a:ext uri="{FF2B5EF4-FFF2-40B4-BE49-F238E27FC236}">
                <a16:creationId xmlns:a16="http://schemas.microsoft.com/office/drawing/2014/main" id="{1F018416-59D6-B81D-64AF-E5A7D8C48330}"/>
              </a:ext>
            </a:extLst>
          </p:cNvPr>
          <p:cNvSpPr/>
          <p:nvPr/>
        </p:nvSpPr>
        <p:spPr>
          <a:xfrm>
            <a:off x="4064000" y="1812675"/>
            <a:ext cx="722376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chemeClr val="bg1"/>
                </a:solidFill>
                <a:latin typeface="Calibri" pitchFamily="34" charset="0"/>
                <a:ea typeface="Calibri" pitchFamily="34" charset="-122"/>
                <a:cs typeface="Calibri" pitchFamily="34" charset="-120"/>
              </a:rPr>
              <a:t>Windows / macOS / Linux (for development)</a:t>
            </a:r>
            <a:endParaRPr lang="en-US" sz="1600" dirty="0">
              <a:solidFill>
                <a:schemeClr val="bg1"/>
              </a:solidFill>
            </a:endParaRPr>
          </a:p>
        </p:txBody>
      </p:sp>
      <p:sp>
        <p:nvSpPr>
          <p:cNvPr id="6" name="Shape 5">
            <a:extLst>
              <a:ext uri="{FF2B5EF4-FFF2-40B4-BE49-F238E27FC236}">
                <a16:creationId xmlns:a16="http://schemas.microsoft.com/office/drawing/2014/main" id="{D4045A26-F1B2-A599-867B-73188F23D162}"/>
              </a:ext>
            </a:extLst>
          </p:cNvPr>
          <p:cNvSpPr/>
          <p:nvPr/>
        </p:nvSpPr>
        <p:spPr>
          <a:xfrm>
            <a:off x="772160" y="2653923"/>
            <a:ext cx="10698480" cy="713232"/>
          </a:xfrm>
          <a:prstGeom prst="roundRect">
            <a:avLst>
              <a:gd name="adj" fmla="val 15385"/>
            </a:avLst>
          </a:prstGeom>
          <a:solidFill>
            <a:schemeClr val="tx2">
              <a:lumMod val="90000"/>
              <a:lumOff val="10000"/>
            </a:schemeClr>
          </a:solidFill>
          <a:ln w="12700">
            <a:solidFill>
              <a:srgbClr val="3A4568"/>
            </a:solidFill>
            <a:prstDash val="solid"/>
          </a:ln>
        </p:spPr>
        <p:txBody>
          <a:bodyPr/>
          <a:lstStyle/>
          <a:p>
            <a:endParaRPr lang="en-IN" sz="1600">
              <a:solidFill>
                <a:schemeClr val="bg1"/>
              </a:solidFill>
            </a:endParaRPr>
          </a:p>
        </p:txBody>
      </p:sp>
      <p:sp>
        <p:nvSpPr>
          <p:cNvPr id="7" name="Text 6">
            <a:extLst>
              <a:ext uri="{FF2B5EF4-FFF2-40B4-BE49-F238E27FC236}">
                <a16:creationId xmlns:a16="http://schemas.microsoft.com/office/drawing/2014/main" id="{F64016EA-4F80-CA56-6579-8E5701AE0EFB}"/>
              </a:ext>
            </a:extLst>
          </p:cNvPr>
          <p:cNvSpPr/>
          <p:nvPr/>
        </p:nvSpPr>
        <p:spPr>
          <a:xfrm>
            <a:off x="1046480" y="2653923"/>
            <a:ext cx="292608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chemeClr val="bg1"/>
                </a:solidFill>
                <a:latin typeface="Calibri" pitchFamily="34" charset="0"/>
                <a:ea typeface="Calibri" pitchFamily="34" charset="-122"/>
                <a:cs typeface="Calibri" pitchFamily="34" charset="-120"/>
              </a:rPr>
              <a:t>Runtime</a:t>
            </a:r>
            <a:endParaRPr lang="en-US" sz="1600" dirty="0">
              <a:solidFill>
                <a:schemeClr val="bg1"/>
              </a:solidFill>
            </a:endParaRPr>
          </a:p>
        </p:txBody>
      </p:sp>
      <p:sp>
        <p:nvSpPr>
          <p:cNvPr id="8" name="Text 7">
            <a:extLst>
              <a:ext uri="{FF2B5EF4-FFF2-40B4-BE49-F238E27FC236}">
                <a16:creationId xmlns:a16="http://schemas.microsoft.com/office/drawing/2014/main" id="{1A118266-E496-A41D-F26E-9849211A6271}"/>
              </a:ext>
            </a:extLst>
          </p:cNvPr>
          <p:cNvSpPr/>
          <p:nvPr/>
        </p:nvSpPr>
        <p:spPr>
          <a:xfrm>
            <a:off x="4064000" y="2653923"/>
            <a:ext cx="722376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chemeClr val="bg1"/>
                </a:solidFill>
                <a:latin typeface="Calibri" pitchFamily="34" charset="0"/>
                <a:ea typeface="Calibri" pitchFamily="34" charset="-122"/>
                <a:cs typeface="Calibri" pitchFamily="34" charset="-120"/>
              </a:rPr>
              <a:t>Node.js (v18 or above)</a:t>
            </a:r>
            <a:endParaRPr lang="en-US" sz="1600" dirty="0">
              <a:solidFill>
                <a:schemeClr val="bg1"/>
              </a:solidFill>
            </a:endParaRPr>
          </a:p>
        </p:txBody>
      </p:sp>
      <p:sp>
        <p:nvSpPr>
          <p:cNvPr id="9" name="Shape 8">
            <a:extLst>
              <a:ext uri="{FF2B5EF4-FFF2-40B4-BE49-F238E27FC236}">
                <a16:creationId xmlns:a16="http://schemas.microsoft.com/office/drawing/2014/main" id="{FE122BD2-967A-CEF1-6200-AA329EFF5C71}"/>
              </a:ext>
            </a:extLst>
          </p:cNvPr>
          <p:cNvSpPr/>
          <p:nvPr/>
        </p:nvSpPr>
        <p:spPr>
          <a:xfrm>
            <a:off x="772160" y="3495171"/>
            <a:ext cx="10698480" cy="713232"/>
          </a:xfrm>
          <a:prstGeom prst="roundRect">
            <a:avLst>
              <a:gd name="adj" fmla="val 15385"/>
            </a:avLst>
          </a:prstGeom>
          <a:solidFill>
            <a:schemeClr val="tx2">
              <a:lumMod val="90000"/>
              <a:lumOff val="10000"/>
            </a:schemeClr>
          </a:solidFill>
          <a:ln w="12700">
            <a:solidFill>
              <a:srgbClr val="3A4568"/>
            </a:solidFill>
            <a:prstDash val="solid"/>
          </a:ln>
        </p:spPr>
        <p:txBody>
          <a:bodyPr/>
          <a:lstStyle/>
          <a:p>
            <a:endParaRPr lang="en-IN" sz="1600">
              <a:solidFill>
                <a:schemeClr val="bg1"/>
              </a:solidFill>
            </a:endParaRPr>
          </a:p>
        </p:txBody>
      </p:sp>
      <p:sp>
        <p:nvSpPr>
          <p:cNvPr id="10" name="Text 9">
            <a:extLst>
              <a:ext uri="{FF2B5EF4-FFF2-40B4-BE49-F238E27FC236}">
                <a16:creationId xmlns:a16="http://schemas.microsoft.com/office/drawing/2014/main" id="{D820A034-FC4F-7F19-0D76-E36ABD04820B}"/>
              </a:ext>
            </a:extLst>
          </p:cNvPr>
          <p:cNvSpPr/>
          <p:nvPr/>
        </p:nvSpPr>
        <p:spPr>
          <a:xfrm>
            <a:off x="1046480" y="3495171"/>
            <a:ext cx="292608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chemeClr val="bg1"/>
                </a:solidFill>
                <a:latin typeface="Calibri" pitchFamily="34" charset="0"/>
                <a:ea typeface="Calibri" pitchFamily="34" charset="-122"/>
                <a:cs typeface="Calibri" pitchFamily="34" charset="-120"/>
              </a:rPr>
              <a:t>Database</a:t>
            </a:r>
            <a:endParaRPr lang="en-US" sz="1600" dirty="0">
              <a:solidFill>
                <a:schemeClr val="bg1"/>
              </a:solidFill>
            </a:endParaRPr>
          </a:p>
        </p:txBody>
      </p:sp>
      <p:sp>
        <p:nvSpPr>
          <p:cNvPr id="11" name="Text 10">
            <a:extLst>
              <a:ext uri="{FF2B5EF4-FFF2-40B4-BE49-F238E27FC236}">
                <a16:creationId xmlns:a16="http://schemas.microsoft.com/office/drawing/2014/main" id="{06F9ED00-3494-4F9A-7FF7-9E65CFBEEB89}"/>
              </a:ext>
            </a:extLst>
          </p:cNvPr>
          <p:cNvSpPr/>
          <p:nvPr/>
        </p:nvSpPr>
        <p:spPr>
          <a:xfrm>
            <a:off x="4064000" y="3495171"/>
            <a:ext cx="722376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chemeClr val="bg1"/>
                </a:solidFill>
                <a:latin typeface="Calibri" pitchFamily="34" charset="0"/>
                <a:ea typeface="Calibri" pitchFamily="34" charset="-122"/>
                <a:cs typeface="Calibri" pitchFamily="34" charset="-120"/>
              </a:rPr>
              <a:t>MySQL</a:t>
            </a:r>
            <a:endParaRPr lang="en-US" sz="1600" dirty="0">
              <a:solidFill>
                <a:schemeClr val="bg1"/>
              </a:solidFill>
            </a:endParaRPr>
          </a:p>
        </p:txBody>
      </p:sp>
      <p:sp>
        <p:nvSpPr>
          <p:cNvPr id="12" name="Shape 11">
            <a:extLst>
              <a:ext uri="{FF2B5EF4-FFF2-40B4-BE49-F238E27FC236}">
                <a16:creationId xmlns:a16="http://schemas.microsoft.com/office/drawing/2014/main" id="{763EE7AF-96BA-3346-952E-6FA6B5CF4003}"/>
              </a:ext>
            </a:extLst>
          </p:cNvPr>
          <p:cNvSpPr/>
          <p:nvPr/>
        </p:nvSpPr>
        <p:spPr>
          <a:xfrm>
            <a:off x="772160" y="4336419"/>
            <a:ext cx="10698480" cy="713232"/>
          </a:xfrm>
          <a:prstGeom prst="roundRect">
            <a:avLst>
              <a:gd name="adj" fmla="val 15385"/>
            </a:avLst>
          </a:prstGeom>
          <a:solidFill>
            <a:schemeClr val="tx2">
              <a:lumMod val="90000"/>
              <a:lumOff val="10000"/>
            </a:schemeClr>
          </a:solidFill>
          <a:ln w="12700">
            <a:solidFill>
              <a:srgbClr val="3A4568"/>
            </a:solidFill>
            <a:prstDash val="solid"/>
          </a:ln>
        </p:spPr>
        <p:txBody>
          <a:bodyPr/>
          <a:lstStyle/>
          <a:p>
            <a:endParaRPr lang="en-IN" sz="1600">
              <a:solidFill>
                <a:schemeClr val="bg1"/>
              </a:solidFill>
            </a:endParaRPr>
          </a:p>
        </p:txBody>
      </p:sp>
      <p:sp>
        <p:nvSpPr>
          <p:cNvPr id="13" name="Text 12">
            <a:extLst>
              <a:ext uri="{FF2B5EF4-FFF2-40B4-BE49-F238E27FC236}">
                <a16:creationId xmlns:a16="http://schemas.microsoft.com/office/drawing/2014/main" id="{7E1E3BB9-31DE-7BA3-45E6-291E2A3224AA}"/>
              </a:ext>
            </a:extLst>
          </p:cNvPr>
          <p:cNvSpPr/>
          <p:nvPr/>
        </p:nvSpPr>
        <p:spPr>
          <a:xfrm>
            <a:off x="1046480" y="4336419"/>
            <a:ext cx="292608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chemeClr val="bg1"/>
                </a:solidFill>
                <a:latin typeface="Calibri" pitchFamily="34" charset="0"/>
                <a:ea typeface="Calibri" pitchFamily="34" charset="-122"/>
                <a:cs typeface="Calibri" pitchFamily="34" charset="-120"/>
              </a:rPr>
              <a:t>Libraries</a:t>
            </a:r>
            <a:endParaRPr lang="en-US" sz="1600" dirty="0">
              <a:solidFill>
                <a:schemeClr val="bg1"/>
              </a:solidFill>
            </a:endParaRPr>
          </a:p>
        </p:txBody>
      </p:sp>
      <p:sp>
        <p:nvSpPr>
          <p:cNvPr id="14" name="Text 13">
            <a:extLst>
              <a:ext uri="{FF2B5EF4-FFF2-40B4-BE49-F238E27FC236}">
                <a16:creationId xmlns:a16="http://schemas.microsoft.com/office/drawing/2014/main" id="{211F2630-6461-50AF-A11B-DD4BCDA92288}"/>
              </a:ext>
            </a:extLst>
          </p:cNvPr>
          <p:cNvSpPr/>
          <p:nvPr/>
        </p:nvSpPr>
        <p:spPr>
          <a:xfrm>
            <a:off x="4064000" y="4336419"/>
            <a:ext cx="722376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chemeClr val="bg1"/>
                </a:solidFill>
                <a:latin typeface="Calibri" pitchFamily="34" charset="0"/>
                <a:ea typeface="Calibri" pitchFamily="34" charset="-122"/>
                <a:cs typeface="Calibri" pitchFamily="34" charset="-120"/>
              </a:rPr>
              <a:t>Express.js, JWT, bcrypt, pdfkit, Nodemailer</a:t>
            </a:r>
            <a:endParaRPr lang="en-US" sz="1600" dirty="0">
              <a:solidFill>
                <a:schemeClr val="bg1"/>
              </a:solidFill>
            </a:endParaRPr>
          </a:p>
        </p:txBody>
      </p:sp>
      <p:sp>
        <p:nvSpPr>
          <p:cNvPr id="15" name="Shape 14">
            <a:extLst>
              <a:ext uri="{FF2B5EF4-FFF2-40B4-BE49-F238E27FC236}">
                <a16:creationId xmlns:a16="http://schemas.microsoft.com/office/drawing/2014/main" id="{2219E4AF-4CD1-BD0C-34B3-7382CD733000}"/>
              </a:ext>
            </a:extLst>
          </p:cNvPr>
          <p:cNvSpPr/>
          <p:nvPr/>
        </p:nvSpPr>
        <p:spPr>
          <a:xfrm>
            <a:off x="772160" y="5177667"/>
            <a:ext cx="10698480" cy="713232"/>
          </a:xfrm>
          <a:prstGeom prst="roundRect">
            <a:avLst>
              <a:gd name="adj" fmla="val 15385"/>
            </a:avLst>
          </a:prstGeom>
          <a:solidFill>
            <a:schemeClr val="tx2">
              <a:lumMod val="90000"/>
              <a:lumOff val="10000"/>
            </a:schemeClr>
          </a:solidFill>
          <a:ln w="12700">
            <a:solidFill>
              <a:srgbClr val="3A4568"/>
            </a:solidFill>
            <a:prstDash val="solid"/>
          </a:ln>
        </p:spPr>
        <p:txBody>
          <a:bodyPr/>
          <a:lstStyle/>
          <a:p>
            <a:endParaRPr lang="en-IN" sz="1600">
              <a:solidFill>
                <a:schemeClr val="bg1"/>
              </a:solidFill>
            </a:endParaRPr>
          </a:p>
        </p:txBody>
      </p:sp>
      <p:sp>
        <p:nvSpPr>
          <p:cNvPr id="16" name="Text 15">
            <a:extLst>
              <a:ext uri="{FF2B5EF4-FFF2-40B4-BE49-F238E27FC236}">
                <a16:creationId xmlns:a16="http://schemas.microsoft.com/office/drawing/2014/main" id="{0FAB96CF-DBD7-105E-55BC-89EDAB94609D}"/>
              </a:ext>
            </a:extLst>
          </p:cNvPr>
          <p:cNvSpPr/>
          <p:nvPr/>
        </p:nvSpPr>
        <p:spPr>
          <a:xfrm>
            <a:off x="1046480" y="5177667"/>
            <a:ext cx="292608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chemeClr val="bg1"/>
                </a:solidFill>
                <a:latin typeface="Calibri" pitchFamily="34" charset="0"/>
                <a:ea typeface="Calibri" pitchFamily="34" charset="-122"/>
                <a:cs typeface="Calibri" pitchFamily="34" charset="-120"/>
              </a:rPr>
              <a:t>Browser</a:t>
            </a:r>
            <a:endParaRPr lang="en-US" sz="1600" dirty="0">
              <a:solidFill>
                <a:schemeClr val="bg1"/>
              </a:solidFill>
            </a:endParaRPr>
          </a:p>
        </p:txBody>
      </p:sp>
      <p:sp>
        <p:nvSpPr>
          <p:cNvPr id="17" name="Text 16">
            <a:extLst>
              <a:ext uri="{FF2B5EF4-FFF2-40B4-BE49-F238E27FC236}">
                <a16:creationId xmlns:a16="http://schemas.microsoft.com/office/drawing/2014/main" id="{EC9D2166-805A-DA8C-CC1B-EA0CFD830874}"/>
              </a:ext>
            </a:extLst>
          </p:cNvPr>
          <p:cNvSpPr/>
          <p:nvPr/>
        </p:nvSpPr>
        <p:spPr>
          <a:xfrm>
            <a:off x="4064000" y="5177667"/>
            <a:ext cx="7223760" cy="713232"/>
          </a:xfrm>
          <a:prstGeom prst="rect">
            <a:avLst/>
          </a:prstGeom>
          <a:solidFill>
            <a:schemeClr val="tx2">
              <a:lumMod val="90000"/>
              <a:lumOff val="1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chemeClr val="bg1"/>
                </a:solidFill>
                <a:latin typeface="Calibri" pitchFamily="34" charset="0"/>
                <a:ea typeface="Calibri" pitchFamily="34" charset="-122"/>
                <a:cs typeface="Calibri" pitchFamily="34" charset="-120"/>
              </a:rPr>
              <a:t>Any modern browser (Chrome, Edge, Firefox)</a:t>
            </a:r>
            <a:endParaRPr lang="en-US" sz="1600" dirty="0">
              <a:solidFill>
                <a:schemeClr val="bg1"/>
              </a:solidFill>
            </a:endParaRPr>
          </a:p>
        </p:txBody>
      </p:sp>
    </p:spTree>
    <p:extLst>
      <p:ext uri="{BB962C8B-B14F-4D97-AF65-F5344CB8AC3E}">
        <p14:creationId xmlns:p14="http://schemas.microsoft.com/office/powerpoint/2010/main" val="89258083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F7A573-4BA3-90E9-0D83-280D188731F6}"/>
              </a:ext>
            </a:extLst>
          </p:cNvPr>
          <p:cNvSpPr txBox="1"/>
          <p:nvPr/>
        </p:nvSpPr>
        <p:spPr>
          <a:xfrm>
            <a:off x="766916" y="707923"/>
            <a:ext cx="10569678" cy="5293757"/>
          </a:xfrm>
          <a:prstGeom prst="rect">
            <a:avLst/>
          </a:prstGeom>
          <a:noFill/>
        </p:spPr>
        <p:txBody>
          <a:bodyPr wrap="square" rtlCol="0">
            <a:spAutoFit/>
          </a:bodyPr>
          <a:lstStyle/>
          <a:p>
            <a:r>
              <a:rPr lang="en-US" sz="4000" b="1" u="sng" dirty="0">
                <a:latin typeface="Calisto MT" panose="02040603050505030304" pitchFamily="18" charset="0"/>
                <a:ea typeface="Arial" pitchFamily="34" charset="-122"/>
                <a:cs typeface="Arial" pitchFamily="34" charset="-120"/>
              </a:rPr>
              <a:t>Expected Features:</a:t>
            </a:r>
          </a:p>
          <a:p>
            <a:endParaRPr lang="en-US" sz="4000" b="1" u="sng" dirty="0">
              <a:latin typeface="Calisto MT" panose="02040603050505030304" pitchFamily="18" charset="0"/>
              <a:ea typeface="Arial" pitchFamily="34" charset="-122"/>
              <a:cs typeface="Arial" pitchFamily="34" charset="-120"/>
            </a:endParaRPr>
          </a:p>
          <a:p>
            <a:pPr marL="342900" indent="-342900">
              <a:buFont typeface="Wingdings" panose="05000000000000000000" pitchFamily="2" charset="2"/>
              <a:buChar char="§"/>
            </a:pPr>
            <a:r>
              <a:rPr lang="en-IN" sz="2400" dirty="0">
                <a:latin typeface="Sitka Subheading Semibold" pitchFamily="2" charset="0"/>
              </a:rPr>
              <a:t>Role-based login/signup (Admin, Resident, Security Guard) with secure authentication </a:t>
            </a:r>
          </a:p>
          <a:p>
            <a:pPr marL="342900" indent="-342900">
              <a:buFont typeface="Wingdings" panose="05000000000000000000" pitchFamily="2" charset="2"/>
              <a:buChar char="§"/>
            </a:pPr>
            <a:r>
              <a:rPr lang="en-IN" sz="2400" dirty="0">
                <a:latin typeface="Sitka Subheading Semibold" pitchFamily="2" charset="0"/>
              </a:rPr>
              <a:t>Admin can add/edit/remove residents and flats, manage staff, and post notices/announcements  </a:t>
            </a:r>
          </a:p>
          <a:p>
            <a:pPr marL="342900" indent="-342900">
              <a:buFont typeface="Wingdings" panose="05000000000000000000" pitchFamily="2" charset="2"/>
              <a:buChar char="§"/>
            </a:pPr>
            <a:r>
              <a:rPr lang="en-IN" sz="2400" dirty="0">
                <a:latin typeface="Sitka Subheading Semibold" pitchFamily="2" charset="0"/>
              </a:rPr>
              <a:t>Residents can view and pay monthly maintenance bills, with auto-generated PDF receipts  </a:t>
            </a:r>
          </a:p>
          <a:p>
            <a:pPr marL="342900" indent="-342900">
              <a:buFont typeface="Wingdings" panose="05000000000000000000" pitchFamily="2" charset="2"/>
              <a:buChar char="§"/>
            </a:pPr>
            <a:r>
              <a:rPr lang="en-IN" sz="2400" dirty="0">
                <a:latin typeface="Sitka Subheading Semibold" pitchFamily="2" charset="0"/>
              </a:rPr>
              <a:t>Residents can raise complaints (plumbing, electricity, cleanliness, etc.) and track status in real time  </a:t>
            </a:r>
          </a:p>
          <a:p>
            <a:pPr marL="342900" indent="-342900">
              <a:buFont typeface="Wingdings" panose="05000000000000000000" pitchFamily="2" charset="2"/>
              <a:buChar char="§"/>
            </a:pPr>
            <a:r>
              <a:rPr lang="en-IN" sz="2400" dirty="0">
                <a:latin typeface="Sitka Subheading Semibold" pitchFamily="2" charset="0"/>
              </a:rPr>
              <a:t>Security guard can register visitor entries (name, phone, purpose, flat to visit) via QR code or manual entry  </a:t>
            </a:r>
          </a:p>
          <a:p>
            <a:endParaRPr lang="en-IN" dirty="0"/>
          </a:p>
        </p:txBody>
      </p:sp>
    </p:spTree>
    <p:extLst>
      <p:ext uri="{BB962C8B-B14F-4D97-AF65-F5344CB8AC3E}">
        <p14:creationId xmlns:p14="http://schemas.microsoft.com/office/powerpoint/2010/main" val="20876333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679C3C-524B-CBF6-3EE7-50642BFCEB69}"/>
              </a:ext>
            </a:extLst>
          </p:cNvPr>
          <p:cNvSpPr txBox="1"/>
          <p:nvPr/>
        </p:nvSpPr>
        <p:spPr>
          <a:xfrm>
            <a:off x="868101" y="937549"/>
            <a:ext cx="10266745" cy="4062651"/>
          </a:xfrm>
          <a:prstGeom prst="rect">
            <a:avLst/>
          </a:prstGeom>
          <a:noFill/>
        </p:spPr>
        <p:txBody>
          <a:bodyPr wrap="square" rtlCol="0">
            <a:spAutoFit/>
          </a:bodyPr>
          <a:lstStyle/>
          <a:p>
            <a:pPr marL="342900" indent="-342900">
              <a:buFont typeface="Wingdings" panose="05000000000000000000" pitchFamily="2" charset="2"/>
              <a:buChar char="§"/>
            </a:pPr>
            <a:r>
              <a:rPr lang="en-IN" sz="2400" dirty="0">
                <a:latin typeface="Sitka Subheading Semibold" pitchFamily="2" charset="0"/>
              </a:rPr>
              <a:t>Residents receive a notification/approval request when a visitor arrives, improving security </a:t>
            </a:r>
          </a:p>
          <a:p>
            <a:pPr marL="342900" indent="-342900">
              <a:buFont typeface="Wingdings" panose="05000000000000000000" pitchFamily="2" charset="2"/>
              <a:buChar char="§"/>
            </a:pPr>
            <a:r>
              <a:rPr lang="en-IN" sz="2400" dirty="0">
                <a:latin typeface="Sitka Subheading Semibold" pitchFamily="2" charset="0"/>
              </a:rPr>
              <a:t>Amenity booking system — residents can book clubhouse, garden, or hall for events, avoiding double-booking  </a:t>
            </a:r>
          </a:p>
          <a:p>
            <a:pPr marL="342900" indent="-342900">
              <a:buFont typeface="Wingdings" panose="05000000000000000000" pitchFamily="2" charset="2"/>
              <a:buChar char="§"/>
            </a:pPr>
            <a:r>
              <a:rPr lang="en-IN" sz="2400" dirty="0">
                <a:latin typeface="Sitka Subheading Semibold" pitchFamily="2" charset="0"/>
              </a:rPr>
              <a:t>Digital notice board — admin posts notices instantly visible to all residents  </a:t>
            </a:r>
          </a:p>
          <a:p>
            <a:pPr marL="342900" indent="-342900">
              <a:buFont typeface="Wingdings" panose="05000000000000000000" pitchFamily="2" charset="2"/>
              <a:buChar char="§"/>
            </a:pPr>
            <a:r>
              <a:rPr lang="en-IN" sz="2400" dirty="0">
                <a:latin typeface="Sitka Subheading Semibold" pitchFamily="2" charset="0"/>
              </a:rPr>
              <a:t>Bills and notices can be sent via WhatsApp link or Email  </a:t>
            </a:r>
          </a:p>
          <a:p>
            <a:pPr marL="342900" indent="-342900">
              <a:buFont typeface="Wingdings" panose="05000000000000000000" pitchFamily="2" charset="2"/>
              <a:buChar char="§"/>
            </a:pPr>
            <a:r>
              <a:rPr lang="en-IN" sz="2400" dirty="0">
                <a:latin typeface="Sitka Subheading Semibold" pitchFamily="2" charset="0"/>
              </a:rPr>
              <a:t>Dashboard for Admin showing total dues collected, pending complaints, and upcoming amenity booking</a:t>
            </a:r>
          </a:p>
          <a:p>
            <a:endParaRPr lang="en-US" sz="2400" u="sng" dirty="0">
              <a:latin typeface="Calisto MT" panose="02040603050505030304" pitchFamily="18" charset="0"/>
            </a:endParaRPr>
          </a:p>
          <a:p>
            <a:endParaRPr lang="en-IN" dirty="0"/>
          </a:p>
        </p:txBody>
      </p:sp>
    </p:spTree>
    <p:extLst>
      <p:ext uri="{BB962C8B-B14F-4D97-AF65-F5344CB8AC3E}">
        <p14:creationId xmlns:p14="http://schemas.microsoft.com/office/powerpoint/2010/main" val="1396686357"/>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029667-4D7D-3851-92D3-7DDDA62918E9}"/>
              </a:ext>
            </a:extLst>
          </p:cNvPr>
          <p:cNvSpPr txBox="1"/>
          <p:nvPr/>
        </p:nvSpPr>
        <p:spPr>
          <a:xfrm>
            <a:off x="4099367" y="2875002"/>
            <a:ext cx="3993266" cy="1477328"/>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en-US" sz="5400" u="sng" dirty="0">
                <a:latin typeface="Colonna MT" panose="04020805060202030203" pitchFamily="82" charset="0"/>
              </a:rPr>
              <a:t>THANK YOU</a:t>
            </a:r>
            <a:endParaRPr lang="en-IN" sz="5400" u="sng" dirty="0">
              <a:latin typeface="Colonna MT" panose="04020805060202030203" pitchFamily="82" charset="0"/>
            </a:endParaRPr>
          </a:p>
          <a:p>
            <a:endParaRPr lang="en-IN" dirty="0"/>
          </a:p>
          <a:p>
            <a:endParaRPr lang="en-IN" dirty="0"/>
          </a:p>
        </p:txBody>
      </p:sp>
      <p:sp>
        <p:nvSpPr>
          <p:cNvPr id="3" name="TextBox 2">
            <a:extLst>
              <a:ext uri="{FF2B5EF4-FFF2-40B4-BE49-F238E27FC236}">
                <a16:creationId xmlns:a16="http://schemas.microsoft.com/office/drawing/2014/main" id="{C5B55001-6B39-A87B-F3F9-EFAB0080175B}"/>
              </a:ext>
            </a:extLst>
          </p:cNvPr>
          <p:cNvSpPr txBox="1"/>
          <p:nvPr/>
        </p:nvSpPr>
        <p:spPr>
          <a:xfrm>
            <a:off x="640080" y="5056632"/>
            <a:ext cx="3566160" cy="1200329"/>
          </a:xfrm>
          <a:prstGeom prst="rect">
            <a:avLst/>
          </a:prstGeom>
          <a:noFill/>
          <a:effectLst>
            <a:outerShdw blurRad="50800" dist="38100" dir="5400000" algn="t" rotWithShape="0">
              <a:prstClr val="black">
                <a:alpha val="40000"/>
              </a:prstClr>
            </a:outerShdw>
          </a:effectLst>
        </p:spPr>
        <p:txBody>
          <a:bodyPr wrap="square" rtlCol="0">
            <a:spAutoFit/>
          </a:bodyPr>
          <a:lstStyle/>
          <a:p>
            <a:r>
              <a:rPr lang="en-IN" b="1" dirty="0">
                <a:latin typeface="Aptos" panose="020B0004020202020204" pitchFamily="34" charset="0"/>
                <a:cs typeface="Aharoni" panose="02010803020104030203" pitchFamily="2" charset="-79"/>
              </a:rPr>
              <a:t>246250307003: Jenil Barad	</a:t>
            </a:r>
          </a:p>
          <a:p>
            <a:r>
              <a:rPr lang="en-IN" b="1" dirty="0">
                <a:latin typeface="Aptos" panose="020B0004020202020204" pitchFamily="34" charset="0"/>
                <a:cs typeface="Aharoni" panose="02010803020104030203" pitchFamily="2" charset="-79"/>
              </a:rPr>
              <a:t>246250307104: Praful Sonagara</a:t>
            </a:r>
          </a:p>
          <a:p>
            <a:r>
              <a:rPr lang="en-IN" b="1" dirty="0">
                <a:latin typeface="Aptos" panose="020B0004020202020204" pitchFamily="34" charset="0"/>
                <a:cs typeface="Aharoni" panose="02010803020104030203" pitchFamily="2" charset="-79"/>
              </a:rPr>
              <a:t>246250307045: Sumit Kanzariya</a:t>
            </a:r>
          </a:p>
          <a:p>
            <a:endParaRPr lang="en-IN" dirty="0"/>
          </a:p>
        </p:txBody>
      </p:sp>
    </p:spTree>
    <p:extLst>
      <p:ext uri="{BB962C8B-B14F-4D97-AF65-F5344CB8AC3E}">
        <p14:creationId xmlns:p14="http://schemas.microsoft.com/office/powerpoint/2010/main" val="10262588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934</Words>
  <Application>Microsoft Office PowerPoint</Application>
  <PresentationFormat>Widescreen</PresentationFormat>
  <Paragraphs>144</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Aptos</vt:lpstr>
      <vt:lpstr>Aptos Display</vt:lpstr>
      <vt:lpstr>Arial</vt:lpstr>
      <vt:lpstr>Arial Rounded MT Bold</vt:lpstr>
      <vt:lpstr>Calibri</vt:lpstr>
      <vt:lpstr>Calisto MT</vt:lpstr>
      <vt:lpstr>Colonna MT</vt:lpstr>
      <vt:lpstr>Impact</vt:lpstr>
      <vt:lpstr>Sitka Subheading Semibold</vt:lpstr>
      <vt:lpstr>Wingdings</vt:lpstr>
      <vt:lpstr>Office Theme</vt:lpstr>
      <vt:lpstr>     Project Title:  Smart society management system. A Digital Platform for Residencial Society Administration.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Project Title:  Smart society management system. A Digital Platform for Residencial Society Administration.  </dc:title>
  <dc:creator>prafulsonagara@outlook.com</dc:creator>
  <cp:lastModifiedBy>jenil barad</cp:lastModifiedBy>
  <cp:revision>5</cp:revision>
  <dcterms:created xsi:type="dcterms:W3CDTF">2026-07-17T17:07:03Z</dcterms:created>
  <dcterms:modified xsi:type="dcterms:W3CDTF">2026-07-18T05:23:49Z</dcterms:modified>
</cp:coreProperties>
</file>